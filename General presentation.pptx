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62" r:id="rId12"/>
    <p:sldId id="263" r:id="rId13"/>
    <p:sldId id="264" r:id="rId14"/>
  </p:sldIdLst>
  <p:sldSz cx="9144000" cy="5143500" type="screen16x9"/>
  <p:notesSz cx="6858000" cy="9144000"/>
  <p:embeddedFontLst>
    <p:embeddedFont>
      <p:font typeface="Roboto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-45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\VLearn_HeroVired\assignment\streaming_service_data\streaming_service_data%20Analysis_Yuvraj%20Bhalerao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\VLearn_HeroVired\assignment\streaming_service_data\streaming_service_data%20Analysis_Yuvraj%20Bhalerao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\VLearn_HeroVired\assignment\streaming_service_data\streaming_service_data%20Analysis_Yuvraj%20Bhalerao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\VLearn_HeroVired\assignment\streaming_service_data\streaming_service_data%20Analysis_Yuvraj%20Bhalerao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\VLearn_HeroVired\assignment\streaming_service_data\streaming_service_data%20Analysis_Yuvraj%20Bhalerao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\VLearn_HeroVired\assignment\streaming_service_data\streaming_service_data%20Analysis_Yuvraj%20Bhalerao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\VLearn_HeroVired\assignment\streaming_service_data\streaming_service_data%20Analysis_Yuvraj%20Bhalerao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\VLearn_HeroVired\assignment\streaming_service_data\streaming_service_data%20Analysis_Yuvraj%20Bhalera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 Analysis_Yuvraj Bhalerao.xlsx]Average Revenue!PivotTable2</c:name>
    <c:fmtId val="6"/>
  </c:pivotSource>
  <c:chart>
    <c:title>
      <c:tx>
        <c:rich>
          <a:bodyPr/>
          <a:lstStyle/>
          <a:p>
            <a:pPr>
              <a:defRPr/>
            </a:pPr>
            <a:r>
              <a:rPr lang="en-US">
                <a:solidFill>
                  <a:srgbClr val="FFC000"/>
                </a:solidFill>
              </a:rPr>
              <a:t>Average Revenue</a:t>
            </a:r>
          </a:p>
        </c:rich>
      </c:tx>
      <c:layout/>
      <c:overlay val="0"/>
    </c:title>
    <c:autoTitleDeleted val="0"/>
    <c:pivotFmts>
      <c:pivotFmt>
        <c:idx val="0"/>
        <c:marker>
          <c:symbol val="none"/>
        </c:marker>
        <c:dLbl>
          <c:idx val="0"/>
          <c:numFmt formatCode="&quot;₹&quot;\ #,##0.00" sourceLinked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"/>
        <c:spPr>
          <a:solidFill>
            <a:srgbClr val="FFC000"/>
          </a:solidFill>
        </c:spPr>
      </c:pivotFmt>
      <c:pivotFmt>
        <c:idx val="2"/>
        <c:marker>
          <c:symbol val="none"/>
        </c:marker>
        <c:dLbl>
          <c:idx val="0"/>
          <c:numFmt formatCode="&quot;₹&quot;\ #,##0.00" sourceLinked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3"/>
        <c:spPr>
          <a:solidFill>
            <a:srgbClr val="FFC000"/>
          </a:solidFill>
        </c:spPr>
      </c:pivotFmt>
      <c:pivotFmt>
        <c:idx val="4"/>
        <c:marker>
          <c:symbol val="none"/>
        </c:marker>
        <c:dLbl>
          <c:idx val="0"/>
          <c:numFmt formatCode="&quot;₹&quot;\ #,##0.00" sourceLinked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5"/>
        <c:spPr>
          <a:solidFill>
            <a:srgbClr val="FFC000"/>
          </a:solidFill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'Average Revenue'!$A$3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</c:spPr>
          </c:dPt>
          <c:dLbls>
            <c:numFmt formatCode="&quot;₹&quot;\ #,##0.00" sourceLinked="0"/>
            <c:txPr>
              <a:bodyPr/>
              <a:lstStyle/>
              <a:p>
                <a:pPr>
                  <a:defRPr>
                    <a:solidFill>
                      <a:srgbClr val="FFC00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'Average Revenue'!$A$4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'Average Revenue'!$A$4</c:f>
              <c:numCache>
                <c:formatCode>General</c:formatCode>
                <c:ptCount val="1"/>
                <c:pt idx="0">
                  <c:v>12.02599999999982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9472512"/>
        <c:axId val="121905536"/>
      </c:barChart>
      <c:catAx>
        <c:axId val="39472512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121905536"/>
        <c:crosses val="autoZero"/>
        <c:auto val="1"/>
        <c:lblAlgn val="ctr"/>
        <c:lblOffset val="100"/>
        <c:noMultiLvlLbl val="0"/>
      </c:catAx>
      <c:valAx>
        <c:axId val="121905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39472512"/>
        <c:crosses val="autoZero"/>
        <c:crossBetween val="between"/>
      </c:valAx>
      <c:spPr>
        <a:solidFill>
          <a:schemeClr val="tx1"/>
        </a:solidFill>
      </c:spPr>
    </c:plotArea>
    <c:legend>
      <c:legendPos val="r"/>
      <c:layout/>
      <c:overlay val="0"/>
    </c:legend>
    <c:plotVisOnly val="1"/>
    <c:dispBlanksAs val="gap"/>
    <c:showDLblsOverMax val="0"/>
  </c:chart>
  <c:spPr>
    <a:solidFill>
      <a:schemeClr val="tx1"/>
    </a:solidFill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[streaming_service_data Analysis_Yuvraj Bhalerao.xlsx]YOY growth!YOY growth</c:name>
    <c:fmtId val="5"/>
  </c:pivotSource>
  <c:chart>
    <c:title>
      <c:tx>
        <c:rich>
          <a:bodyPr/>
          <a:lstStyle/>
          <a:p>
            <a:pPr>
              <a:defRPr sz="1200"/>
            </a:pPr>
            <a:r>
              <a:rPr lang="en-US" sz="1200"/>
              <a:t>YOY business growth</a:t>
            </a:r>
          </a:p>
        </c:rich>
      </c:tx>
      <c:layout>
        <c:manualLayout>
          <c:xMode val="edge"/>
          <c:yMode val="edge"/>
          <c:x val="0.14142843255704149"/>
          <c:y val="0"/>
        </c:manualLayout>
      </c:layout>
      <c:overlay val="0"/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"/>
        <c:dLbl>
          <c:idx val="0"/>
          <c:layout>
            <c:manualLayout>
              <c:x val="2.5000000000000026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3"/>
        <c:dLbl>
          <c:idx val="0"/>
          <c:layout>
            <c:manualLayout>
              <c:x val="4.1666666666666664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4"/>
        <c:dLbl>
          <c:idx val="0"/>
          <c:layout>
            <c:manualLayout>
              <c:x val="3.0555555555555555E-2"/>
              <c:y val="-2.7777777777777693E-2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5"/>
        <c:dLbl>
          <c:idx val="0"/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6"/>
        <c:dLbl>
          <c:idx val="0"/>
          <c:layout>
            <c:manualLayout>
              <c:x val="2.5000000000000026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7"/>
        <c:dLbl>
          <c:idx val="0"/>
          <c:layout>
            <c:manualLayout>
              <c:x val="3.0555555555555555E-2"/>
              <c:y val="-2.7777777777777693E-2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8"/>
        <c:dLbl>
          <c:idx val="0"/>
          <c:layout>
            <c:manualLayout>
              <c:x val="4.1666666666666664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9"/>
        <c:dLbl>
          <c:idx val="0"/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0"/>
        <c:dLbl>
          <c:idx val="0"/>
          <c:layout>
            <c:manualLayout>
              <c:x val="1.7945534585954565E-2"/>
              <c:y val="-7.6923076923076927E-2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1"/>
        <c:dLbl>
          <c:idx val="0"/>
          <c:layout>
            <c:manualLayout>
              <c:x val="3.0555555555555555E-2"/>
              <c:y val="-2.7777777777777693E-2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2"/>
        <c:dLbl>
          <c:idx val="0"/>
          <c:layout>
            <c:manualLayout>
              <c:x val="4.1666666666666664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3"/>
        <c:dLbl>
          <c:idx val="0"/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4"/>
        <c:marker>
          <c:symbol val="none"/>
        </c:marker>
      </c:pivotFmt>
      <c:pivotFmt>
        <c:idx val="15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6"/>
        <c:dLbl>
          <c:idx val="0"/>
          <c:layout>
            <c:manualLayout>
              <c:x val="1.7945534585954565E-2"/>
              <c:y val="-7.6923076923076927E-2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7"/>
        <c:dLbl>
          <c:idx val="0"/>
          <c:layout>
            <c:manualLayout>
              <c:x val="3.0555555555555555E-2"/>
              <c:y val="-2.7777777777777693E-2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8"/>
        <c:dLbl>
          <c:idx val="0"/>
          <c:layout>
            <c:manualLayout>
              <c:x val="4.1666666666666664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9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0"/>
        <c:dLbl>
          <c:idx val="0"/>
          <c:layout>
            <c:manualLayout>
              <c:x val="1.7945534585954565E-2"/>
              <c:y val="-7.6923076923076927E-2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1"/>
        <c:dLbl>
          <c:idx val="0"/>
          <c:layout>
            <c:manualLayout>
              <c:x val="3.0555555555555555E-2"/>
              <c:y val="-2.7777777777777693E-2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2"/>
        <c:dLbl>
          <c:idx val="0"/>
          <c:layout>
            <c:manualLayout>
              <c:x val="4.1666666666666664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</c:pivotFmts>
    <c:plotArea>
      <c:layout>
        <c:manualLayout>
          <c:layoutTarget val="inner"/>
          <c:xMode val="edge"/>
          <c:yMode val="edge"/>
          <c:x val="0.2238509075254482"/>
          <c:y val="0.24479305471431453"/>
          <c:w val="0.70948353678012466"/>
          <c:h val="0.520790934786997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'YOY growth'!$B$3:$B$4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7945534585954565E-2"/>
                  <c:y val="-7.692307692307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3.0555555555555555E-2"/>
                  <c:y val="-2.77777777777776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4.166666666666666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'YOY growth'!$A$5:$A$8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'YOY growth'!$B$5:$B$8</c:f>
              <c:numCache>
                <c:formatCode>0.00%</c:formatCode>
                <c:ptCount val="3"/>
                <c:pt idx="0">
                  <c:v>1.8739614378058652E-2</c:v>
                </c:pt>
                <c:pt idx="1">
                  <c:v>0.51539634197964856</c:v>
                </c:pt>
                <c:pt idx="2">
                  <c:v>0.46586404364229278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6293376"/>
        <c:axId val="136414336"/>
      </c:barChart>
      <c:catAx>
        <c:axId val="136293376"/>
        <c:scaling>
          <c:orientation val="minMax"/>
        </c:scaling>
        <c:delete val="0"/>
        <c:axPos val="b"/>
        <c:majorTickMark val="out"/>
        <c:minorTickMark val="none"/>
        <c:tickLblPos val="nextTo"/>
        <c:crossAx val="136414336"/>
        <c:crosses val="autoZero"/>
        <c:auto val="1"/>
        <c:lblAlgn val="ctr"/>
        <c:lblOffset val="100"/>
        <c:noMultiLvlLbl val="0"/>
      </c:catAx>
      <c:valAx>
        <c:axId val="136414336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crossAx val="136293376"/>
        <c:crosses val="autoZero"/>
        <c:crossBetween val="between"/>
      </c:valAx>
      <c:spPr>
        <a:solidFill>
          <a:schemeClr val="tx1"/>
        </a:solidFill>
      </c:spPr>
    </c:plotArea>
    <c:plotVisOnly val="1"/>
    <c:dispBlanksAs val="gap"/>
    <c:showDLblsOverMax val="0"/>
  </c:chart>
  <c:spPr>
    <a:solidFill>
      <a:schemeClr val="tx1"/>
    </a:solidFill>
  </c:spPr>
  <c:txPr>
    <a:bodyPr/>
    <a:lstStyle/>
    <a:p>
      <a:pPr>
        <a:defRPr>
          <a:solidFill>
            <a:srgbClr val="FFC000"/>
          </a:solidFill>
        </a:defRPr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 Analysis_Yuvraj Bhalerao.xlsx]Monthly Rev vs Subplan!Monthly rev vs subcription</c:name>
    <c:fmtId val="10"/>
  </c:pivotSource>
  <c:chart>
    <c:title>
      <c:tx>
        <c:rich>
          <a:bodyPr/>
          <a:lstStyle/>
          <a:p>
            <a:pPr>
              <a:defRPr/>
            </a:pPr>
            <a:r>
              <a:rPr lang="en-US" sz="1200" b="0">
                <a:solidFill>
                  <a:srgbClr val="FFC000"/>
                </a:solidFill>
              </a:rPr>
              <a:t>Revenue vs Subcription plan</a:t>
            </a:r>
          </a:p>
        </c:rich>
      </c:tx>
      <c:layout>
        <c:manualLayout>
          <c:xMode val="edge"/>
          <c:yMode val="edge"/>
          <c:x val="0.23317369135047739"/>
          <c:y val="6.1906292855261606E-2"/>
        </c:manualLayout>
      </c:layout>
      <c:overlay val="0"/>
    </c:title>
    <c:autoTitleDeleted val="0"/>
    <c:pivotFmts>
      <c:pivotFmt>
        <c:idx val="0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3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4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</c:pivotFmts>
    <c:plotArea>
      <c:layout>
        <c:manualLayout>
          <c:layoutTarget val="inner"/>
          <c:xMode val="edge"/>
          <c:yMode val="edge"/>
          <c:x val="0.15405064751521444"/>
          <c:y val="0.25193526688560913"/>
          <c:w val="0.79281849384211589"/>
          <c:h val="0.546710455162953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'Monthly Rev vs Subplan'!$B$4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rgbClr val="FFC00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'Monthly Rev vs Subplan'!$A$5:$A$8</c:f>
              <c:strCache>
                <c:ptCount val="3"/>
                <c:pt idx="0">
                  <c:v>Dimond</c:v>
                </c:pt>
                <c:pt idx="1">
                  <c:v>Gold</c:v>
                </c:pt>
                <c:pt idx="2">
                  <c:v>Silver</c:v>
                </c:pt>
              </c:strCache>
            </c:strRef>
          </c:cat>
          <c:val>
            <c:numRef>
              <c:f>'Monthly Rev vs Subplan'!$B$5:$B$8</c:f>
              <c:numCache>
                <c:formatCode>0</c:formatCode>
                <c:ptCount val="3"/>
                <c:pt idx="0">
                  <c:v>5308.6799999999566</c:v>
                </c:pt>
                <c:pt idx="1">
                  <c:v>4136.5499999999638</c:v>
                </c:pt>
                <c:pt idx="2">
                  <c:v>2580.7699999999877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6512256"/>
        <c:axId val="136513792"/>
      </c:barChart>
      <c:catAx>
        <c:axId val="13651225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aseline="0">
                <a:solidFill>
                  <a:srgbClr val="FFC000"/>
                </a:solidFill>
              </a:defRPr>
            </a:pPr>
            <a:endParaRPr lang="en-US"/>
          </a:p>
        </c:txPr>
        <c:crossAx val="136513792"/>
        <c:crosses val="autoZero"/>
        <c:auto val="1"/>
        <c:lblAlgn val="ctr"/>
        <c:lblOffset val="100"/>
        <c:noMultiLvlLbl val="0"/>
      </c:catAx>
      <c:valAx>
        <c:axId val="136513792"/>
        <c:scaling>
          <c:orientation val="minMax"/>
        </c:scaling>
        <c:delete val="0"/>
        <c:axPos val="l"/>
        <c:numFmt formatCode="0" sourceLinked="1"/>
        <c:majorTickMark val="out"/>
        <c:minorTickMark val="none"/>
        <c:tickLblPos val="nextTo"/>
        <c:txPr>
          <a:bodyPr/>
          <a:lstStyle/>
          <a:p>
            <a:pPr>
              <a:defRPr baseline="0">
                <a:solidFill>
                  <a:srgbClr val="FFC000"/>
                </a:solidFill>
              </a:defRPr>
            </a:pPr>
            <a:endParaRPr lang="en-US"/>
          </a:p>
        </c:txPr>
        <c:crossAx val="136512256"/>
        <c:crosses val="autoZero"/>
        <c:crossBetween val="between"/>
      </c:valAx>
      <c:spPr>
        <a:solidFill>
          <a:schemeClr val="tx1"/>
        </a:solidFill>
      </c:spPr>
    </c:plotArea>
    <c:plotVisOnly val="1"/>
    <c:dispBlanksAs val="gap"/>
    <c:showDLblsOverMax val="0"/>
  </c:chart>
  <c:spPr>
    <a:solidFill>
      <a:schemeClr val="tx1"/>
    </a:solidFill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 Analysis_Yuvraj Bhalerao.xlsx]Pricewise_user!Pricewise User distribution</c:name>
    <c:fmtId val="5"/>
  </c:pivotSource>
  <c:chart>
    <c:title>
      <c:tx>
        <c:rich>
          <a:bodyPr/>
          <a:lstStyle/>
          <a:p>
            <a:pPr>
              <a:defRPr/>
            </a:pPr>
            <a:r>
              <a:rPr lang="en-IN" sz="1200" b="0">
                <a:solidFill>
                  <a:srgbClr val="FFC000"/>
                </a:solidFill>
              </a:rPr>
              <a:t>Pricewise User distribution</a:t>
            </a:r>
          </a:p>
        </c:rich>
      </c:tx>
      <c:layout>
        <c:manualLayout>
          <c:xMode val="edge"/>
          <c:yMode val="edge"/>
          <c:x val="0.23584394669112962"/>
          <c:y val="4.0793320938558676E-2"/>
        </c:manualLayout>
      </c:layout>
      <c:overlay val="0"/>
    </c:title>
    <c:autoTitleDeleted val="0"/>
    <c:pivotFmts>
      <c:pivotFmt>
        <c:idx val="0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 baseline="0"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 baseline="0"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 baseline="0"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3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 baseline="0"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4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 baseline="0"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</c:pivotFmts>
    <c:plotArea>
      <c:layout>
        <c:manualLayout>
          <c:layoutTarget val="inner"/>
          <c:xMode val="edge"/>
          <c:yMode val="edge"/>
          <c:x val="0.12254181740795914"/>
          <c:y val="0.22551589616504406"/>
          <c:w val="0.7703412073490814"/>
          <c:h val="0.474149554835057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Pricewise_user!$C$3:$C$4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txPr>
              <a:bodyPr/>
              <a:lstStyle/>
              <a:p>
                <a:pPr>
                  <a:defRPr baseline="0">
                    <a:solidFill>
                      <a:srgbClr val="FFC00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Pricewise_user!$A$5:$B$7</c:f>
              <c:multiLvlStrCache>
                <c:ptCount val="3"/>
                <c:lvl>
                  <c:pt idx="0">
                    <c:v>7.99</c:v>
                  </c:pt>
                  <c:pt idx="1">
                    <c:v>11.99</c:v>
                  </c:pt>
                  <c:pt idx="2">
                    <c:v>15.99</c:v>
                  </c:pt>
                </c:lvl>
                <c:lvl>
                  <c:pt idx="0">
                    <c:v>Tier-1</c:v>
                  </c:pt>
                  <c:pt idx="1">
                    <c:v>Tier-2</c:v>
                  </c:pt>
                  <c:pt idx="2">
                    <c:v>Tier-3</c:v>
                  </c:pt>
                </c:lvl>
              </c:multiLvlStrCache>
            </c:multiLvlStrRef>
          </c:cat>
          <c:val>
            <c:numRef>
              <c:f>Pricewise_user!$C$5:$C$7</c:f>
              <c:numCache>
                <c:formatCode>General</c:formatCode>
                <c:ptCount val="3"/>
                <c:pt idx="0">
                  <c:v>323</c:v>
                </c:pt>
                <c:pt idx="1">
                  <c:v>345</c:v>
                </c:pt>
                <c:pt idx="2">
                  <c:v>332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7239552"/>
        <c:axId val="137241344"/>
      </c:barChart>
      <c:catAx>
        <c:axId val="13723955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aseline="0">
                <a:solidFill>
                  <a:srgbClr val="FFC000"/>
                </a:solidFill>
              </a:defRPr>
            </a:pPr>
            <a:endParaRPr lang="en-US"/>
          </a:p>
        </c:txPr>
        <c:crossAx val="137241344"/>
        <c:crosses val="autoZero"/>
        <c:auto val="1"/>
        <c:lblAlgn val="ctr"/>
        <c:lblOffset val="100"/>
        <c:noMultiLvlLbl val="0"/>
      </c:catAx>
      <c:valAx>
        <c:axId val="1372413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aseline="0">
                <a:solidFill>
                  <a:srgbClr val="FFC000"/>
                </a:solidFill>
              </a:defRPr>
            </a:pPr>
            <a:endParaRPr lang="en-US"/>
          </a:p>
        </c:txPr>
        <c:crossAx val="13723955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chemeClr val="tx1"/>
    </a:solidFill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 Analysis_Yuvraj Bhalerao.xlsx]Watch Hours Vs Rec cont!Watch Hours Vs Rec cont</c:name>
    <c:fmtId val="19"/>
  </c:pivotSource>
  <c:chart>
    <c:title>
      <c:tx>
        <c:rich>
          <a:bodyPr/>
          <a:lstStyle/>
          <a:p>
            <a:pPr>
              <a:defRPr/>
            </a:pPr>
            <a:r>
              <a:rPr lang="en-IN" sz="1200" b="0">
                <a:solidFill>
                  <a:srgbClr val="FFC000"/>
                </a:solidFill>
              </a:rPr>
              <a:t>Watch</a:t>
            </a:r>
            <a:r>
              <a:rPr lang="en-IN" sz="1200" b="0" baseline="0">
                <a:solidFill>
                  <a:srgbClr val="FFC000"/>
                </a:solidFill>
              </a:rPr>
              <a:t> hours vs recommendation</a:t>
            </a:r>
            <a:endParaRPr lang="en-IN" sz="1200" b="0">
              <a:solidFill>
                <a:srgbClr val="FFC000"/>
              </a:solidFill>
            </a:endParaRPr>
          </a:p>
        </c:rich>
      </c:tx>
      <c:layout>
        <c:manualLayout>
          <c:xMode val="edge"/>
          <c:yMode val="edge"/>
          <c:x val="0.22656952086004892"/>
          <c:y val="3.3452807646356032E-2"/>
        </c:manualLayout>
      </c:layout>
      <c:overlay val="0"/>
    </c:title>
    <c:autoTitleDeleted val="0"/>
    <c:pivotFmts>
      <c:pivotFmt>
        <c:idx val="0"/>
        <c:spPr>
          <a:solidFill>
            <a:srgbClr val="FFC000"/>
          </a:solidFill>
        </c:spPr>
        <c:marker>
          <c:symbol val="none"/>
        </c:marker>
      </c:pivotFmt>
      <c:pivotFmt>
        <c:idx val="1"/>
        <c:spPr>
          <a:solidFill>
            <a:srgbClr val="00FF99"/>
          </a:solidFill>
        </c:spPr>
        <c:marker>
          <c:symbol val="none"/>
        </c:marker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  <c:spPr>
          <a:solidFill>
            <a:srgbClr val="FFC000"/>
          </a:solidFill>
        </c:spPr>
        <c:marker>
          <c:symbol val="none"/>
        </c:marker>
      </c:pivotFmt>
      <c:pivotFmt>
        <c:idx val="11"/>
        <c:spPr>
          <a:solidFill>
            <a:srgbClr val="00FF99"/>
          </a:solidFill>
        </c:spPr>
        <c:marker>
          <c:symbol val="none"/>
        </c:marker>
      </c:pivotFmt>
      <c:pivotFmt>
        <c:idx val="12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3"/>
        <c:spPr>
          <a:solidFill>
            <a:srgbClr val="00FF99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4"/>
        <c:dLbl>
          <c:idx val="0"/>
          <c:layout>
            <c:manualLayout>
              <c:x val="2.7131782945736434E-2"/>
              <c:y val="-5.7112528185510247E-17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5"/>
        <c:dLbl>
          <c:idx val="0"/>
          <c:layout>
            <c:manualLayout>
              <c:x val="2.7131782945736434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6"/>
        <c:dLbl>
          <c:idx val="0"/>
          <c:layout>
            <c:manualLayout>
              <c:x val="1.5503875968992248E-2"/>
              <c:y val="-5.7112528185510247E-17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7"/>
        <c:dLbl>
          <c:idx val="0"/>
          <c:layout>
            <c:manualLayout>
              <c:x val="2.3255813953488372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8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9"/>
        <c:spPr>
          <a:solidFill>
            <a:srgbClr val="00FF99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0"/>
        <c:dLbl>
          <c:idx val="0"/>
          <c:layout>
            <c:manualLayout>
              <c:x val="2.7131782945736434E-2"/>
              <c:y val="-5.7112528185510247E-17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1"/>
        <c:dLbl>
          <c:idx val="0"/>
          <c:layout>
            <c:manualLayout>
              <c:x val="2.3255813953488372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2"/>
        <c:dLbl>
          <c:idx val="0"/>
          <c:layout>
            <c:manualLayout>
              <c:x val="1.5503875968992248E-2"/>
              <c:y val="-5.7112528185510247E-17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3"/>
        <c:dLbl>
          <c:idx val="0"/>
          <c:layout>
            <c:manualLayout>
              <c:x val="2.7131782945736434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4"/>
        <c:spPr>
          <a:solidFill>
            <a:srgbClr val="FFC00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5"/>
        <c:spPr>
          <a:solidFill>
            <a:srgbClr val="00FF99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rgbClr val="FFC000"/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6"/>
        <c:dLbl>
          <c:idx val="0"/>
          <c:layout>
            <c:manualLayout>
              <c:x val="2.7131782945736434E-2"/>
              <c:y val="-5.7112528185510247E-17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7"/>
        <c:dLbl>
          <c:idx val="0"/>
          <c:layout>
            <c:manualLayout>
              <c:x val="2.3255813953488372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8"/>
        <c:dLbl>
          <c:idx val="0"/>
          <c:layout>
            <c:manualLayout>
              <c:x val="1.5503875968992248E-2"/>
              <c:y val="-5.7112528185510247E-17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9"/>
        <c:dLbl>
          <c:idx val="0"/>
          <c:layout>
            <c:manualLayout>
              <c:x val="2.7131782945736434E-2"/>
              <c:y val="0"/>
            </c:manualLayout>
          </c:layout>
          <c:showLegendKey val="0"/>
          <c:showVal val="1"/>
          <c:showCatName val="0"/>
          <c:showSerName val="0"/>
          <c:showPercent val="0"/>
          <c:showBubbleSize val="0"/>
        </c:dLbl>
      </c:pivotFmt>
    </c:pivotFmts>
    <c:plotArea>
      <c:layout>
        <c:manualLayout>
          <c:layoutTarget val="inner"/>
          <c:xMode val="edge"/>
          <c:yMode val="edge"/>
          <c:x val="0.17905359213819202"/>
          <c:y val="0.16608133660711766"/>
          <c:w val="0.76668284197033509"/>
          <c:h val="0.4783538465458808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'Watch Hours Vs Rec cont'!$B$4</c:f>
              <c:strCache>
                <c:ptCount val="1"/>
                <c:pt idx="0">
                  <c:v>Sum of Watch_Hours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rgbClr val="FFC00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'Watch Hours Vs Rec cont'!$A$5:$A$8</c:f>
              <c:strCache>
                <c:ptCount val="4"/>
                <c:pt idx="0">
                  <c:v>EUROPE</c:v>
                </c:pt>
                <c:pt idx="1">
                  <c:v>AMERICAS</c:v>
                </c:pt>
                <c:pt idx="2">
                  <c:v>OCEANIA</c:v>
                </c:pt>
                <c:pt idx="3">
                  <c:v>Asia</c:v>
                </c:pt>
              </c:strCache>
            </c:strRef>
          </c:cat>
          <c:val>
            <c:numRef>
              <c:f>'Watch Hours Vs Rec cont'!$B$5:$B$8</c:f>
              <c:numCache>
                <c:formatCode>General</c:formatCode>
                <c:ptCount val="4"/>
                <c:pt idx="0">
                  <c:v>117188</c:v>
                </c:pt>
                <c:pt idx="1">
                  <c:v>74883</c:v>
                </c:pt>
                <c:pt idx="2">
                  <c:v>34911</c:v>
                </c:pt>
                <c:pt idx="3">
                  <c:v>27534</c:v>
                </c:pt>
              </c:numCache>
            </c:numRef>
          </c:val>
        </c:ser>
        <c:ser>
          <c:idx val="1"/>
          <c:order val="1"/>
          <c:tx>
            <c:strRef>
              <c:f>'Watch Hours Vs Rec cont'!$C$4</c:f>
              <c:strCache>
                <c:ptCount val="1"/>
                <c:pt idx="0">
                  <c:v>Sum of Recommended_Content_Count</c:v>
                </c:pt>
              </c:strCache>
            </c:strRef>
          </c:tx>
          <c:spPr>
            <a:solidFill>
              <a:srgbClr val="00FF99"/>
            </a:solidFill>
          </c:spPr>
          <c:invertIfNegative val="0"/>
          <c:dLbls>
            <c:dLbl>
              <c:idx val="0"/>
              <c:layout>
                <c:manualLayout>
                  <c:x val="2.7131782945736434E-2"/>
                  <c:y val="-5.711252818551024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25581395348837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5503875968992248E-2"/>
                  <c:y val="-5.711252818551024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2.713178294573643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solidFill>
                      <a:srgbClr val="FFC00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'Watch Hours Vs Rec cont'!$A$5:$A$8</c:f>
              <c:strCache>
                <c:ptCount val="4"/>
                <c:pt idx="0">
                  <c:v>EUROPE</c:v>
                </c:pt>
                <c:pt idx="1">
                  <c:v>AMERICAS</c:v>
                </c:pt>
                <c:pt idx="2">
                  <c:v>OCEANIA</c:v>
                </c:pt>
                <c:pt idx="3">
                  <c:v>Asia</c:v>
                </c:pt>
              </c:strCache>
            </c:strRef>
          </c:cat>
          <c:val>
            <c:numRef>
              <c:f>'Watch Hours Vs Rec cont'!$C$5:$C$8</c:f>
              <c:numCache>
                <c:formatCode>General</c:formatCode>
                <c:ptCount val="4"/>
                <c:pt idx="0">
                  <c:v>23291</c:v>
                </c:pt>
                <c:pt idx="1">
                  <c:v>15399</c:v>
                </c:pt>
                <c:pt idx="2">
                  <c:v>6931</c:v>
                </c:pt>
                <c:pt idx="3">
                  <c:v>5861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6425856"/>
        <c:axId val="136428544"/>
      </c:barChart>
      <c:catAx>
        <c:axId val="13642585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136428544"/>
        <c:crosses val="autoZero"/>
        <c:auto val="1"/>
        <c:lblAlgn val="ctr"/>
        <c:lblOffset val="100"/>
        <c:noMultiLvlLbl val="0"/>
      </c:catAx>
      <c:valAx>
        <c:axId val="1364285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136425856"/>
        <c:crosses val="autoZero"/>
        <c:crossBetween val="between"/>
      </c:valAx>
      <c:spPr>
        <a:solidFill>
          <a:schemeClr val="tx1"/>
        </a:solidFill>
      </c:spPr>
    </c:plotArea>
    <c:legend>
      <c:legendPos val="b"/>
      <c:layout>
        <c:manualLayout>
          <c:xMode val="edge"/>
          <c:yMode val="edge"/>
          <c:x val="3.0057681743270462E-2"/>
          <c:y val="0.79173967331753436"/>
          <c:w val="0.92825642434230604"/>
          <c:h val="0.14655114347265732"/>
        </c:manualLayout>
      </c:layout>
      <c:overlay val="0"/>
      <c:txPr>
        <a:bodyPr/>
        <a:lstStyle/>
        <a:p>
          <a:pPr>
            <a:defRPr>
              <a:solidFill>
                <a:srgbClr val="FFC000"/>
              </a:solidFill>
            </a:defRPr>
          </a:pPr>
          <a:endParaRPr lang="en-US"/>
        </a:p>
      </c:txPr>
    </c:legend>
    <c:plotVisOnly val="1"/>
    <c:dispBlanksAs val="zero"/>
    <c:showDLblsOverMax val="0"/>
  </c:chart>
  <c:spPr>
    <a:solidFill>
      <a:schemeClr val="tx1"/>
    </a:solidFill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[streaming_service_data Analysis_Yuvraj Bhalerao.xlsx]Devicewise engagement!Devicewise engagement</c:name>
    <c:fmtId val="18"/>
  </c:pivotSource>
  <c:chart>
    <c:title>
      <c:tx>
        <c:rich>
          <a:bodyPr/>
          <a:lstStyle/>
          <a:p>
            <a:pPr>
              <a:defRPr>
                <a:solidFill>
                  <a:srgbClr val="FFC000"/>
                </a:solidFill>
              </a:defRPr>
            </a:pPr>
            <a:r>
              <a:rPr lang="en-US" sz="1200" b="0">
                <a:solidFill>
                  <a:srgbClr val="FFC000"/>
                </a:solidFill>
              </a:rPr>
              <a:t>Device wise engagement</a:t>
            </a:r>
          </a:p>
        </c:rich>
      </c:tx>
      <c:layout>
        <c:manualLayout>
          <c:xMode val="edge"/>
          <c:yMode val="edge"/>
          <c:x val="0.17937423511210659"/>
          <c:y val="2.9084098862642169E-2"/>
        </c:manualLayout>
      </c:layout>
      <c:overlay val="0"/>
    </c:title>
    <c:autoTitleDeleted val="0"/>
    <c:pivotFmts>
      <c:pivotFmt>
        <c:idx val="0"/>
        <c:dLbl>
          <c:idx val="0"/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1"/>
        <c:dLbl>
          <c:idx val="0"/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2"/>
        <c:marker>
          <c:symbol val="none"/>
        </c:marker>
        <c:dLbl>
          <c:idx val="0"/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3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4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</c:dLbl>
      </c:pivotFmt>
    </c:pivotFmts>
    <c:plotArea>
      <c:layout>
        <c:manualLayout>
          <c:layoutTarget val="inner"/>
          <c:xMode val="edge"/>
          <c:yMode val="edge"/>
          <c:x val="0.14545608485156364"/>
          <c:y val="0.14834287177517444"/>
          <c:w val="0.48071274081942106"/>
          <c:h val="0.79962460789962231"/>
        </c:manualLayout>
      </c:layout>
      <c:doughnutChart>
        <c:varyColors val="1"/>
        <c:ser>
          <c:idx val="0"/>
          <c:order val="0"/>
          <c:tx>
            <c:strRef>
              <c:f>'Devicewise engagement'!$B$3:$B$4</c:f>
              <c:strCache>
                <c:ptCount val="1"/>
                <c:pt idx="0">
                  <c:v>Total</c:v>
                </c:pt>
              </c:strCache>
            </c:strRef>
          </c:tx>
          <c:dLbls>
            <c:txPr>
              <a:bodyPr/>
              <a:lstStyle/>
              <a:p>
                <a:pPr>
                  <a:defRPr>
                    <a:solidFill>
                      <a:srgbClr val="C00000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'Devicewise engagement'!$A$5:$A$9</c:f>
              <c:strCache>
                <c:ptCount val="5"/>
                <c:pt idx="0">
                  <c:v>Smartphone</c:v>
                </c:pt>
                <c:pt idx="1">
                  <c:v>Smart TV</c:v>
                </c:pt>
                <c:pt idx="2">
                  <c:v>Tablet</c:v>
                </c:pt>
                <c:pt idx="3">
                  <c:v>Desktop</c:v>
                </c:pt>
                <c:pt idx="4">
                  <c:v>Laptop</c:v>
                </c:pt>
              </c:strCache>
            </c:strRef>
          </c:cat>
          <c:val>
            <c:numRef>
              <c:f>'Devicewise engagement'!$B$5:$B$9</c:f>
              <c:numCache>
                <c:formatCode>General</c:formatCode>
                <c:ptCount val="5"/>
                <c:pt idx="0">
                  <c:v>56814</c:v>
                </c:pt>
                <c:pt idx="1">
                  <c:v>53863</c:v>
                </c:pt>
                <c:pt idx="2">
                  <c:v>52456</c:v>
                </c:pt>
                <c:pt idx="3">
                  <c:v>49473</c:v>
                </c:pt>
                <c:pt idx="4">
                  <c:v>41910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1"/>
      </c:doughnutChart>
    </c:plotArea>
    <c:legend>
      <c:legendPos val="r"/>
      <c:layout>
        <c:manualLayout>
          <c:xMode val="edge"/>
          <c:yMode val="edge"/>
          <c:x val="0.72547501943488735"/>
          <c:y val="0.26487730518401359"/>
          <c:w val="0.25106457000792787"/>
          <c:h val="0.49731916698185652"/>
        </c:manualLayout>
      </c:layout>
      <c:overlay val="0"/>
      <c:txPr>
        <a:bodyPr/>
        <a:lstStyle/>
        <a:p>
          <a:pPr>
            <a:defRPr>
              <a:solidFill>
                <a:srgbClr val="FFC0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tx1"/>
    </a:solidFill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Series val="1"/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[streaming_service_data Analysis_Yuvraj Bhalerao.xlsx]Favorite Genre by watch hours!Favorite Genre by watch hours</c:name>
    <c:fmtId val="23"/>
  </c:pivotSource>
  <c:chart>
    <c:title>
      <c:tx>
        <c:rich>
          <a:bodyPr/>
          <a:lstStyle/>
          <a:p>
            <a:pPr>
              <a:defRPr>
                <a:solidFill>
                  <a:srgbClr val="C00000"/>
                </a:solidFill>
              </a:defRPr>
            </a:pPr>
            <a:r>
              <a:rPr lang="en-US" sz="1200" b="0">
                <a:solidFill>
                  <a:srgbClr val="C00000"/>
                </a:solidFill>
              </a:rPr>
              <a:t>Favorite Genre Popularity</a:t>
            </a:r>
          </a:p>
        </c:rich>
      </c:tx>
      <c:layout>
        <c:manualLayout>
          <c:xMode val="edge"/>
          <c:yMode val="edge"/>
          <c:x val="0.20355947309864955"/>
          <c:y val="5.5124399703999558E-2"/>
        </c:manualLayout>
      </c:layout>
      <c:overlay val="0"/>
    </c:title>
    <c:autoTitleDeleted val="0"/>
    <c:pivotFmts>
      <c:pivotFmt>
        <c:idx val="0"/>
      </c:pivotFmt>
      <c:pivotFmt>
        <c:idx val="1"/>
        <c:dLbl>
          <c:idx val="0"/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3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4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5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6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7"/>
        <c:marker>
          <c:symbol val="none"/>
        </c:marker>
        <c:dLbl>
          <c:idx val="0"/>
          <c:spPr>
            <a:ln w="9525"/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8"/>
        <c:dLbl>
          <c:idx val="0"/>
          <c:tx>
            <c:rich>
              <a:bodyPr/>
              <a:lstStyle/>
              <a:p>
                <a:r>
                  <a:rPr lang="en-IN" sz="800"/>
                  <a:t>Documentary
13%</a:t>
                </a:r>
              </a:p>
            </c:rich>
          </c:tx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9"/>
        <c:marker>
          <c:symbol val="none"/>
        </c:marker>
        <c:dLbl>
          <c:idx val="0"/>
          <c:spPr>
            <a:ln w="9525"/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10"/>
        <c:dLbl>
          <c:idx val="0"/>
          <c:tx>
            <c:rich>
              <a:bodyPr/>
              <a:lstStyle/>
              <a:p>
                <a:r>
                  <a:rPr lang="en-IN" sz="800"/>
                  <a:t>Documentary
13%</a:t>
                </a:r>
              </a:p>
            </c:rich>
          </c:tx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11"/>
        <c:marker>
          <c:symbol val="none"/>
        </c:marker>
        <c:dLbl>
          <c:idx val="0"/>
          <c:spPr>
            <a:ln w="9525"/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</c:dLbl>
      </c:pivotFmt>
      <c:pivotFmt>
        <c:idx val="12"/>
        <c:dLbl>
          <c:idx val="0"/>
          <c:tx>
            <c:rich>
              <a:bodyPr/>
              <a:lstStyle/>
              <a:p>
                <a:r>
                  <a:rPr lang="en-IN" sz="800"/>
                  <a:t>Documentary
13%</a:t>
                </a:r>
              </a:p>
            </c:rich>
          </c:tx>
          <c:showLegendKey val="0"/>
          <c:showVal val="0"/>
          <c:showCatName val="1"/>
          <c:showSerName val="0"/>
          <c:showPercent val="1"/>
          <c:showBubbleSize val="0"/>
        </c:dLbl>
      </c:pivotFmt>
    </c:pivotFmts>
    <c:plotArea>
      <c:layout>
        <c:manualLayout>
          <c:layoutTarget val="inner"/>
          <c:xMode val="edge"/>
          <c:yMode val="edge"/>
          <c:x val="0.12631135984035052"/>
          <c:y val="0.16589434901379516"/>
          <c:w val="0.45543625228664608"/>
          <c:h val="0.81440120729798815"/>
        </c:manualLayout>
      </c:layout>
      <c:doughnutChart>
        <c:varyColors val="1"/>
        <c:ser>
          <c:idx val="0"/>
          <c:order val="0"/>
          <c:tx>
            <c:strRef>
              <c:f>'Favorite Genre by watch hours'!$B$6:$B$7</c:f>
              <c:strCache>
                <c:ptCount val="1"/>
                <c:pt idx="0">
                  <c:v>Total</c:v>
                </c:pt>
              </c:strCache>
            </c:strRef>
          </c:tx>
          <c:dLbls>
            <c:dLbl>
              <c:idx val="5"/>
              <c:layout/>
              <c:tx>
                <c:rich>
                  <a:bodyPr/>
                  <a:lstStyle/>
                  <a:p>
                    <a:r>
                      <a:rPr lang="en-IN" sz="800">
                        <a:solidFill>
                          <a:srgbClr val="C00000"/>
                        </a:solidFill>
                      </a:rPr>
                      <a:t>Documentary
13%</a:t>
                    </a:r>
                    <a:endParaRPr lang="en-IN" sz="80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</c:dLbl>
            <c:spPr>
              <a:ln w="9525"/>
            </c:spPr>
            <c:txPr>
              <a:bodyPr/>
              <a:lstStyle/>
              <a:p>
                <a:pPr>
                  <a:defRPr>
                    <a:solidFill>
                      <a:srgbClr val="C00000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'Favorite Genre by watch hours'!$A$8:$A$14</c:f>
              <c:strCache>
                <c:ptCount val="7"/>
                <c:pt idx="0">
                  <c:v>Drama</c:v>
                </c:pt>
                <c:pt idx="1">
                  <c:v>Horror</c:v>
                </c:pt>
                <c:pt idx="2">
                  <c:v>Action</c:v>
                </c:pt>
                <c:pt idx="3">
                  <c:v>Comedy</c:v>
                </c:pt>
                <c:pt idx="4">
                  <c:v>Romance</c:v>
                </c:pt>
                <c:pt idx="5">
                  <c:v>Documentary</c:v>
                </c:pt>
                <c:pt idx="6">
                  <c:v>Sci-Fi</c:v>
                </c:pt>
              </c:strCache>
            </c:strRef>
          </c:cat>
          <c:val>
            <c:numRef>
              <c:f>'Favorite Genre by watch hours'!$B$8:$B$14</c:f>
              <c:numCache>
                <c:formatCode>General</c:formatCode>
                <c:ptCount val="7"/>
                <c:pt idx="0">
                  <c:v>9303</c:v>
                </c:pt>
                <c:pt idx="1">
                  <c:v>5923</c:v>
                </c:pt>
                <c:pt idx="2">
                  <c:v>5906</c:v>
                </c:pt>
                <c:pt idx="3">
                  <c:v>5082</c:v>
                </c:pt>
                <c:pt idx="4">
                  <c:v>4731</c:v>
                </c:pt>
                <c:pt idx="5">
                  <c:v>4718</c:v>
                </c:pt>
                <c:pt idx="6">
                  <c:v>4049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0"/>
      </c:doughnutChart>
    </c:plotArea>
    <c:legend>
      <c:legendPos val="tr"/>
      <c:layout/>
      <c:overlay val="0"/>
      <c:txPr>
        <a:bodyPr/>
        <a:lstStyle/>
        <a:p>
          <a:pPr>
            <a:defRPr>
              <a:solidFill>
                <a:srgbClr val="FFC0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tx1"/>
    </a:solidFill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 Analysis_Yuvraj Bhalerao.xlsx]Frequency of Log &amp; cont downloa!Frequency of Log &amp; content download</c:name>
    <c:fmtId val="5"/>
  </c:pivotSource>
  <c:chart>
    <c:title>
      <c:tx>
        <c:rich>
          <a:bodyPr/>
          <a:lstStyle/>
          <a:p>
            <a:pPr>
              <a:defRPr>
                <a:solidFill>
                  <a:srgbClr val="C00000"/>
                </a:solidFill>
              </a:defRPr>
            </a:pPr>
            <a:r>
              <a:rPr lang="en-IN" sz="1200" b="0">
                <a:solidFill>
                  <a:srgbClr val="C00000"/>
                </a:solidFill>
              </a:rPr>
              <a:t>Login frequency vs content download</a:t>
            </a:r>
          </a:p>
        </c:rich>
      </c:tx>
      <c:layout/>
      <c:overlay val="0"/>
    </c:title>
    <c:autoTitleDeleted val="0"/>
    <c:pivotFmts>
      <c:pivotFmt>
        <c:idx val="0"/>
        <c:spPr>
          <a:solidFill>
            <a:srgbClr val="FFC000"/>
          </a:solidFill>
        </c:spPr>
        <c:marker>
          <c:symbol val="none"/>
        </c:marker>
      </c:pivotFmt>
      <c:pivotFmt>
        <c:idx val="1"/>
        <c:spPr>
          <a:solidFill>
            <a:srgbClr val="00FF99"/>
          </a:solidFill>
        </c:spPr>
        <c:marker>
          <c:symbol val="none"/>
        </c:marker>
      </c:pivotFmt>
      <c:pivotFmt>
        <c:idx val="2"/>
      </c:pivotFmt>
      <c:pivotFmt>
        <c:idx val="3"/>
      </c:pivotFmt>
      <c:pivotFmt>
        <c:idx val="4"/>
        <c:spPr>
          <a:solidFill>
            <a:srgbClr val="FFC000"/>
          </a:solidFill>
        </c:spPr>
        <c:marker>
          <c:symbol val="none"/>
        </c:marker>
      </c:pivotFmt>
      <c:pivotFmt>
        <c:idx val="5"/>
        <c:spPr>
          <a:solidFill>
            <a:srgbClr val="00FF99"/>
          </a:solidFill>
        </c:spPr>
        <c:marker>
          <c:symbol val="none"/>
        </c:marker>
      </c:pivotFmt>
      <c:pivotFmt>
        <c:idx val="6"/>
        <c:spPr>
          <a:solidFill>
            <a:srgbClr val="FFC000"/>
          </a:solidFill>
        </c:spPr>
        <c:marker>
          <c:symbol val="none"/>
        </c:marker>
      </c:pivotFmt>
      <c:pivotFmt>
        <c:idx val="7"/>
        <c:spPr>
          <a:solidFill>
            <a:srgbClr val="00FF99"/>
          </a:solidFill>
        </c:spPr>
        <c:marker>
          <c:symbol val="none"/>
        </c:marker>
      </c:pivotFmt>
      <c:pivotFmt>
        <c:idx val="8"/>
        <c:spPr>
          <a:solidFill>
            <a:srgbClr val="FFC000"/>
          </a:solidFill>
        </c:spPr>
        <c:marker>
          <c:symbol val="none"/>
        </c:marker>
      </c:pivotFmt>
      <c:pivotFmt>
        <c:idx val="9"/>
        <c:spPr>
          <a:solidFill>
            <a:srgbClr val="00FF99"/>
          </a:solidFill>
        </c:spPr>
        <c:marker>
          <c:symbol val="none"/>
        </c:marker>
      </c:pivotFmt>
      <c:pivotFmt>
        <c:idx val="10"/>
        <c:spPr>
          <a:solidFill>
            <a:srgbClr val="FFC000"/>
          </a:solidFill>
        </c:spPr>
        <c:marker>
          <c:symbol val="none"/>
        </c:marker>
      </c:pivotFmt>
      <c:pivotFmt>
        <c:idx val="11"/>
        <c:spPr>
          <a:solidFill>
            <a:srgbClr val="00FF99"/>
          </a:solidFill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4704179521419472"/>
          <c:y val="0.14456697487999365"/>
          <c:w val="0.78328252828045619"/>
          <c:h val="0.523948651651720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'Frequency of Log &amp; cont downloa'!$B$4:$B$5</c:f>
              <c:strCache>
                <c:ptCount val="1"/>
                <c:pt idx="0">
                  <c:v>Count of Last_Login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cat>
            <c:strRef>
              <c:f>'Frequency of Log &amp; cont downloa'!$A$6:$A$18</c:f>
              <c:strCache>
                <c:ptCount val="12"/>
                <c:pt idx="0">
                  <c:v>Nov</c:v>
                </c:pt>
                <c:pt idx="1">
                  <c:v>Dec</c:v>
                </c:pt>
                <c:pt idx="2">
                  <c:v>Feb</c:v>
                </c:pt>
                <c:pt idx="3">
                  <c:v>Jan</c:v>
                </c:pt>
                <c:pt idx="4">
                  <c:v>Sep</c:v>
                </c:pt>
                <c:pt idx="5">
                  <c:v>Apr</c:v>
                </c:pt>
                <c:pt idx="6">
                  <c:v>Mar</c:v>
                </c:pt>
                <c:pt idx="7">
                  <c:v>Jul</c:v>
                </c:pt>
                <c:pt idx="8">
                  <c:v>May</c:v>
                </c:pt>
                <c:pt idx="9">
                  <c:v>Oct</c:v>
                </c:pt>
                <c:pt idx="10">
                  <c:v>Aug</c:v>
                </c:pt>
                <c:pt idx="11">
                  <c:v>Jun</c:v>
                </c:pt>
              </c:strCache>
            </c:strRef>
          </c:cat>
          <c:val>
            <c:numRef>
              <c:f>'Frequency of Log &amp; cont downloa'!$B$6:$B$18</c:f>
              <c:numCache>
                <c:formatCode>General</c:formatCode>
                <c:ptCount val="12"/>
                <c:pt idx="0">
                  <c:v>465</c:v>
                </c:pt>
                <c:pt idx="1">
                  <c:v>235</c:v>
                </c:pt>
                <c:pt idx="2">
                  <c:v>35</c:v>
                </c:pt>
                <c:pt idx="3">
                  <c:v>35</c:v>
                </c:pt>
                <c:pt idx="4">
                  <c:v>34</c:v>
                </c:pt>
                <c:pt idx="5">
                  <c:v>33</c:v>
                </c:pt>
                <c:pt idx="6">
                  <c:v>31</c:v>
                </c:pt>
                <c:pt idx="7">
                  <c:v>30</c:v>
                </c:pt>
                <c:pt idx="8">
                  <c:v>28</c:v>
                </c:pt>
                <c:pt idx="9">
                  <c:v>26</c:v>
                </c:pt>
                <c:pt idx="10">
                  <c:v>24</c:v>
                </c:pt>
                <c:pt idx="11">
                  <c:v>24</c:v>
                </c:pt>
              </c:numCache>
            </c:numRef>
          </c:val>
        </c:ser>
        <c:ser>
          <c:idx val="1"/>
          <c:order val="1"/>
          <c:tx>
            <c:strRef>
              <c:f>'Frequency of Log &amp; cont downloa'!$C$4:$C$5</c:f>
              <c:strCache>
                <c:ptCount val="1"/>
                <c:pt idx="0">
                  <c:v>Sum of Download Done</c:v>
                </c:pt>
              </c:strCache>
            </c:strRef>
          </c:tx>
          <c:spPr>
            <a:solidFill>
              <a:srgbClr val="00FF99"/>
            </a:solidFill>
          </c:spPr>
          <c:invertIfNegative val="0"/>
          <c:cat>
            <c:strRef>
              <c:f>'Frequency of Log &amp; cont downloa'!$A$6:$A$18</c:f>
              <c:strCache>
                <c:ptCount val="12"/>
                <c:pt idx="0">
                  <c:v>Nov</c:v>
                </c:pt>
                <c:pt idx="1">
                  <c:v>Dec</c:v>
                </c:pt>
                <c:pt idx="2">
                  <c:v>Feb</c:v>
                </c:pt>
                <c:pt idx="3">
                  <c:v>Jan</c:v>
                </c:pt>
                <c:pt idx="4">
                  <c:v>Sep</c:v>
                </c:pt>
                <c:pt idx="5">
                  <c:v>Apr</c:v>
                </c:pt>
                <c:pt idx="6">
                  <c:v>Mar</c:v>
                </c:pt>
                <c:pt idx="7">
                  <c:v>Jul</c:v>
                </c:pt>
                <c:pt idx="8">
                  <c:v>May</c:v>
                </c:pt>
                <c:pt idx="9">
                  <c:v>Oct</c:v>
                </c:pt>
                <c:pt idx="10">
                  <c:v>Aug</c:v>
                </c:pt>
                <c:pt idx="11">
                  <c:v>Jun</c:v>
                </c:pt>
              </c:strCache>
            </c:strRef>
          </c:cat>
          <c:val>
            <c:numRef>
              <c:f>'Frequency of Log &amp; cont downloa'!$C$6:$C$18</c:f>
              <c:numCache>
                <c:formatCode>General</c:formatCode>
                <c:ptCount val="12"/>
                <c:pt idx="0">
                  <c:v>249</c:v>
                </c:pt>
                <c:pt idx="1">
                  <c:v>105</c:v>
                </c:pt>
                <c:pt idx="2">
                  <c:v>16</c:v>
                </c:pt>
                <c:pt idx="3">
                  <c:v>20</c:v>
                </c:pt>
                <c:pt idx="4">
                  <c:v>12</c:v>
                </c:pt>
                <c:pt idx="5">
                  <c:v>19</c:v>
                </c:pt>
                <c:pt idx="6">
                  <c:v>17</c:v>
                </c:pt>
                <c:pt idx="7">
                  <c:v>16</c:v>
                </c:pt>
                <c:pt idx="8">
                  <c:v>13</c:v>
                </c:pt>
                <c:pt idx="9">
                  <c:v>12</c:v>
                </c:pt>
                <c:pt idx="10">
                  <c:v>12</c:v>
                </c:pt>
                <c:pt idx="11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8060544"/>
        <c:axId val="154707456"/>
      </c:barChart>
      <c:catAx>
        <c:axId val="13806054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 rot="-3600000" anchor="t" anchorCtr="0"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154707456"/>
        <c:crosses val="autoZero"/>
        <c:auto val="1"/>
        <c:lblAlgn val="ctr"/>
        <c:lblOffset val="100"/>
        <c:noMultiLvlLbl val="0"/>
      </c:catAx>
      <c:valAx>
        <c:axId val="154707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138060544"/>
        <c:crosses val="autoZero"/>
        <c:crossBetween val="between"/>
      </c:valAx>
      <c:spPr>
        <a:solidFill>
          <a:schemeClr val="tx1"/>
        </a:solidFill>
      </c:spPr>
    </c:plotArea>
    <c:legend>
      <c:legendPos val="b"/>
      <c:layout>
        <c:manualLayout>
          <c:xMode val="edge"/>
          <c:yMode val="edge"/>
          <c:x val="7.9817554186625617E-2"/>
          <c:y val="0.89589368329496544"/>
          <c:w val="0.9"/>
          <c:h val="7.4879812685284847E-2"/>
        </c:manualLayout>
      </c:layout>
      <c:overlay val="0"/>
      <c:txPr>
        <a:bodyPr/>
        <a:lstStyle/>
        <a:p>
          <a:pPr>
            <a:defRPr>
              <a:solidFill>
                <a:srgbClr val="FFC0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tx1"/>
    </a:solidFill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[streaming_service_data Analysis_Yuvraj Bhalerao.xlsx]Loyalty Point Dis Top20!Loyalty points distribution</c:name>
    <c:fmtId val="12"/>
  </c:pivotSource>
  <c:chart>
    <c:title>
      <c:tx>
        <c:rich>
          <a:bodyPr/>
          <a:lstStyle/>
          <a:p>
            <a:pPr>
              <a:defRPr>
                <a:solidFill>
                  <a:srgbClr val="FFC000"/>
                </a:solidFill>
              </a:defRPr>
            </a:pPr>
            <a:r>
              <a:rPr lang="en-US" sz="1200" b="0">
                <a:solidFill>
                  <a:srgbClr val="FFC000"/>
                </a:solidFill>
              </a:rPr>
              <a:t>Top 20 Loyal Customers by loyalty points</a:t>
            </a:r>
          </a:p>
        </c:rich>
      </c:tx>
      <c:layout>
        <c:manualLayout>
          <c:xMode val="edge"/>
          <c:yMode val="edge"/>
          <c:x val="0.31095545572140904"/>
          <c:y val="5.1062686931575417E-2"/>
        </c:manualLayout>
      </c:layout>
      <c:overlay val="0"/>
    </c:title>
    <c:autoTitleDeleted val="0"/>
    <c:pivotFmts>
      <c:pivotFmt>
        <c:idx val="0"/>
      </c:pivotFmt>
      <c:pivotFmt>
        <c:idx val="1"/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spPr>
          <a:solidFill>
            <a:srgbClr val="FFC000"/>
          </a:solidFill>
        </c:spPr>
        <c:marker>
          <c:symbol val="none"/>
        </c:marker>
      </c:pivotFmt>
      <c:pivotFmt>
        <c:idx val="5"/>
        <c:spPr>
          <a:solidFill>
            <a:srgbClr val="FFC000"/>
          </a:solidFill>
        </c:spPr>
        <c:marker>
          <c:symbol val="none"/>
        </c:marker>
      </c:pivotFmt>
      <c:pivotFmt>
        <c:idx val="6"/>
        <c:spPr>
          <a:solidFill>
            <a:srgbClr val="FFC000"/>
          </a:solidFill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6342798876775322"/>
          <c:y val="0.23754510909483376"/>
          <c:w val="0.79013649480950643"/>
          <c:h val="0.462429258874795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'Loyalty Point Dis Top20'!$B$4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cat>
            <c:strRef>
              <c:f>'Loyalty Point Dis Top20'!$A$5:$A$24</c:f>
              <c:strCache>
                <c:ptCount val="20"/>
                <c:pt idx="0">
                  <c:v>Michael</c:v>
                </c:pt>
                <c:pt idx="1">
                  <c:v>Richard</c:v>
                </c:pt>
                <c:pt idx="2">
                  <c:v>Mary</c:v>
                </c:pt>
                <c:pt idx="3">
                  <c:v>Daniel</c:v>
                </c:pt>
                <c:pt idx="4">
                  <c:v>James</c:v>
                </c:pt>
                <c:pt idx="5">
                  <c:v>Andrew</c:v>
                </c:pt>
                <c:pt idx="6">
                  <c:v>Mark</c:v>
                </c:pt>
                <c:pt idx="7">
                  <c:v>Alicia</c:v>
                </c:pt>
                <c:pt idx="8">
                  <c:v>Amanda</c:v>
                </c:pt>
                <c:pt idx="9">
                  <c:v>Maria</c:v>
                </c:pt>
                <c:pt idx="10">
                  <c:v>Kevin</c:v>
                </c:pt>
                <c:pt idx="11">
                  <c:v>Jennifer</c:v>
                </c:pt>
                <c:pt idx="12">
                  <c:v>Jessica</c:v>
                </c:pt>
                <c:pt idx="13">
                  <c:v>Nicole</c:v>
                </c:pt>
                <c:pt idx="14">
                  <c:v>Lindsay</c:v>
                </c:pt>
                <c:pt idx="15">
                  <c:v>Angela</c:v>
                </c:pt>
                <c:pt idx="16">
                  <c:v>Paul</c:v>
                </c:pt>
                <c:pt idx="17">
                  <c:v>Abigail</c:v>
                </c:pt>
                <c:pt idx="18">
                  <c:v>Stephanie</c:v>
                </c:pt>
                <c:pt idx="19">
                  <c:v>Alvin</c:v>
                </c:pt>
              </c:strCache>
            </c:strRef>
          </c:cat>
          <c:val>
            <c:numRef>
              <c:f>'Loyalty Point Dis Top20'!$B$5:$B$24</c:f>
              <c:numCache>
                <c:formatCode>General</c:formatCode>
                <c:ptCount val="20"/>
                <c:pt idx="0">
                  <c:v>15061</c:v>
                </c:pt>
                <c:pt idx="1">
                  <c:v>11442</c:v>
                </c:pt>
                <c:pt idx="2">
                  <c:v>9460</c:v>
                </c:pt>
                <c:pt idx="3">
                  <c:v>8880</c:v>
                </c:pt>
                <c:pt idx="4">
                  <c:v>7286</c:v>
                </c:pt>
                <c:pt idx="5">
                  <c:v>7155</c:v>
                </c:pt>
                <c:pt idx="6">
                  <c:v>6914</c:v>
                </c:pt>
                <c:pt idx="7">
                  <c:v>6645</c:v>
                </c:pt>
                <c:pt idx="8">
                  <c:v>6485</c:v>
                </c:pt>
                <c:pt idx="9">
                  <c:v>6460</c:v>
                </c:pt>
                <c:pt idx="10">
                  <c:v>6249</c:v>
                </c:pt>
                <c:pt idx="11">
                  <c:v>5536</c:v>
                </c:pt>
                <c:pt idx="12">
                  <c:v>5426</c:v>
                </c:pt>
                <c:pt idx="13">
                  <c:v>5158</c:v>
                </c:pt>
                <c:pt idx="14">
                  <c:v>5029</c:v>
                </c:pt>
                <c:pt idx="15">
                  <c:v>4976</c:v>
                </c:pt>
                <c:pt idx="16">
                  <c:v>4919</c:v>
                </c:pt>
                <c:pt idx="17">
                  <c:v>4867</c:v>
                </c:pt>
                <c:pt idx="18">
                  <c:v>4799</c:v>
                </c:pt>
                <c:pt idx="19">
                  <c:v>4726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4"/>
        <c:axId val="163783040"/>
        <c:axId val="163784960"/>
      </c:barChart>
      <c:catAx>
        <c:axId val="16378304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163784960"/>
        <c:crosses val="autoZero"/>
        <c:auto val="1"/>
        <c:lblAlgn val="ctr"/>
        <c:lblOffset val="100"/>
        <c:noMultiLvlLbl val="0"/>
      </c:catAx>
      <c:valAx>
        <c:axId val="1637849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163783040"/>
        <c:crosses val="autoZero"/>
        <c:crossBetween val="between"/>
      </c:valAx>
      <c:spPr>
        <a:solidFill>
          <a:schemeClr val="tx1"/>
        </a:solidFill>
      </c:spPr>
    </c:plotArea>
    <c:plotVisOnly val="1"/>
    <c:dispBlanksAs val="gap"/>
    <c:showDLblsOverMax val="0"/>
  </c:chart>
  <c:spPr>
    <a:solidFill>
      <a:schemeClr val="tx1"/>
    </a:solidFill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[streaming_service_data Analysis_Yuvraj Bhalerao.xlsx]Payment method by Region!Payment method by Region</c:name>
    <c:fmtId val="10"/>
  </c:pivotSource>
  <c:chart>
    <c:title>
      <c:tx>
        <c:rich>
          <a:bodyPr/>
          <a:lstStyle/>
          <a:p>
            <a:pPr>
              <a:defRPr>
                <a:solidFill>
                  <a:srgbClr val="FFC000"/>
                </a:solidFill>
              </a:defRPr>
            </a:pPr>
            <a:r>
              <a:rPr lang="en-IN" sz="1200" b="0" dirty="0">
                <a:solidFill>
                  <a:srgbClr val="C00000"/>
                </a:solidFill>
              </a:rPr>
              <a:t>Payment method by region</a:t>
            </a:r>
          </a:p>
        </c:rich>
      </c:tx>
      <c:layout>
        <c:manualLayout>
          <c:xMode val="edge"/>
          <c:yMode val="edge"/>
          <c:x val="0.24232939632545933"/>
          <c:y val="4.1042062995070433E-2"/>
        </c:manualLayout>
      </c:layout>
      <c:overlay val="0"/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  <c:marker>
          <c:symbol val="none"/>
        </c:marker>
      </c:pivotFmt>
      <c:pivotFmt>
        <c:idx val="10"/>
        <c:marker>
          <c:symbol val="none"/>
        </c:marker>
      </c:pivotFmt>
      <c:pivotFmt>
        <c:idx val="11"/>
        <c:marker>
          <c:symbol val="none"/>
        </c:marker>
      </c:pivotFmt>
      <c:pivotFmt>
        <c:idx val="12"/>
        <c:marker>
          <c:symbol val="none"/>
        </c:marker>
      </c:pivotFmt>
      <c:pivotFmt>
        <c:idx val="13"/>
        <c:marker>
          <c:symbol val="none"/>
        </c:marker>
      </c:pivotFmt>
      <c:pivotFmt>
        <c:idx val="14"/>
        <c:marker>
          <c:symbol val="none"/>
        </c:marker>
      </c:pivotFmt>
      <c:pivotFmt>
        <c:idx val="15"/>
        <c:marker>
          <c:symbol val="none"/>
        </c:marker>
      </c:pivotFmt>
      <c:pivotFmt>
        <c:idx val="16"/>
        <c:marker>
          <c:symbol val="none"/>
        </c:marker>
      </c:pivotFmt>
      <c:pivotFmt>
        <c:idx val="17"/>
        <c:marker>
          <c:symbol val="none"/>
        </c:marker>
      </c:pivotFmt>
      <c:pivotFmt>
        <c:idx val="18"/>
        <c:marker>
          <c:symbol val="none"/>
        </c:marker>
      </c:pivotFmt>
      <c:pivotFmt>
        <c:idx val="19"/>
        <c:marker>
          <c:symbol val="none"/>
        </c:marker>
      </c:pivotFmt>
      <c:pivotFmt>
        <c:idx val="20"/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20732416359347486"/>
          <c:y val="0.20063302213805553"/>
          <c:w val="0.71079770092029637"/>
          <c:h val="0.473004019028871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'Payment method by Region'!$B$5:$B$6</c:f>
              <c:strCache>
                <c:ptCount val="1"/>
                <c:pt idx="0">
                  <c:v>Credit Card</c:v>
                </c:pt>
              </c:strCache>
            </c:strRef>
          </c:tx>
          <c:invertIfNegative val="0"/>
          <c:cat>
            <c:strRef>
              <c:f>'Payment method by Region'!$A$7:$A$11</c:f>
              <c:strCache>
                <c:ptCount val="4"/>
                <c:pt idx="0">
                  <c:v>EUROPE</c:v>
                </c:pt>
                <c:pt idx="1">
                  <c:v>AMERICAS</c:v>
                </c:pt>
                <c:pt idx="2">
                  <c:v>Asia</c:v>
                </c:pt>
                <c:pt idx="3">
                  <c:v>OCEANIA</c:v>
                </c:pt>
              </c:strCache>
            </c:strRef>
          </c:cat>
          <c:val>
            <c:numRef>
              <c:f>'Payment method by Region'!$B$7:$B$11</c:f>
              <c:numCache>
                <c:formatCode>General</c:formatCode>
                <c:ptCount val="4"/>
                <c:pt idx="0">
                  <c:v>1226.9700000000007</c:v>
                </c:pt>
                <c:pt idx="1">
                  <c:v>935.2200000000006</c:v>
                </c:pt>
                <c:pt idx="2">
                  <c:v>315.75000000000011</c:v>
                </c:pt>
                <c:pt idx="3">
                  <c:v>247.78000000000009</c:v>
                </c:pt>
              </c:numCache>
            </c:numRef>
          </c:val>
        </c:ser>
        <c:ser>
          <c:idx val="1"/>
          <c:order val="1"/>
          <c:tx>
            <c:strRef>
              <c:f>'Payment method by Region'!$C$5:$C$6</c:f>
              <c:strCache>
                <c:ptCount val="1"/>
                <c:pt idx="0">
                  <c:v>Cryptocurrency</c:v>
                </c:pt>
              </c:strCache>
            </c:strRef>
          </c:tx>
          <c:invertIfNegative val="0"/>
          <c:cat>
            <c:strRef>
              <c:f>'Payment method by Region'!$A$7:$A$11</c:f>
              <c:strCache>
                <c:ptCount val="4"/>
                <c:pt idx="0">
                  <c:v>EUROPE</c:v>
                </c:pt>
                <c:pt idx="1">
                  <c:v>AMERICAS</c:v>
                </c:pt>
                <c:pt idx="2">
                  <c:v>Asia</c:v>
                </c:pt>
                <c:pt idx="3">
                  <c:v>OCEANIA</c:v>
                </c:pt>
              </c:strCache>
            </c:strRef>
          </c:cat>
          <c:val>
            <c:numRef>
              <c:f>'Payment method by Region'!$C$7:$C$11</c:f>
              <c:numCache>
                <c:formatCode>General</c:formatCode>
                <c:ptCount val="4"/>
                <c:pt idx="0">
                  <c:v>1358.8600000000008</c:v>
                </c:pt>
                <c:pt idx="1">
                  <c:v>835.3300000000005</c:v>
                </c:pt>
                <c:pt idx="2">
                  <c:v>347.71000000000009</c:v>
                </c:pt>
                <c:pt idx="3">
                  <c:v>571.56000000000029</c:v>
                </c:pt>
              </c:numCache>
            </c:numRef>
          </c:val>
        </c:ser>
        <c:ser>
          <c:idx val="2"/>
          <c:order val="2"/>
          <c:tx>
            <c:strRef>
              <c:f>'Payment method by Region'!$D$5:$D$6</c:f>
              <c:strCache>
                <c:ptCount val="1"/>
                <c:pt idx="0">
                  <c:v>Debit Card</c:v>
                </c:pt>
              </c:strCache>
            </c:strRef>
          </c:tx>
          <c:invertIfNegative val="0"/>
          <c:cat>
            <c:strRef>
              <c:f>'Payment method by Region'!$A$7:$A$11</c:f>
              <c:strCache>
                <c:ptCount val="4"/>
                <c:pt idx="0">
                  <c:v>EUROPE</c:v>
                </c:pt>
                <c:pt idx="1">
                  <c:v>AMERICAS</c:v>
                </c:pt>
                <c:pt idx="2">
                  <c:v>Asia</c:v>
                </c:pt>
                <c:pt idx="3">
                  <c:v>OCEANIA</c:v>
                </c:pt>
              </c:strCache>
            </c:strRef>
          </c:cat>
          <c:val>
            <c:numRef>
              <c:f>'Payment method by Region'!$D$7:$D$11</c:f>
              <c:numCache>
                <c:formatCode>General</c:formatCode>
                <c:ptCount val="4"/>
                <c:pt idx="0">
                  <c:v>1250.9500000000007</c:v>
                </c:pt>
                <c:pt idx="1">
                  <c:v>799.33000000000038</c:v>
                </c:pt>
                <c:pt idx="2">
                  <c:v>463.61000000000024</c:v>
                </c:pt>
                <c:pt idx="3">
                  <c:v>467.62000000000023</c:v>
                </c:pt>
              </c:numCache>
            </c:numRef>
          </c:val>
        </c:ser>
        <c:ser>
          <c:idx val="3"/>
          <c:order val="3"/>
          <c:tx>
            <c:strRef>
              <c:f>'Payment method by Region'!$E$5:$E$6</c:f>
              <c:strCache>
                <c:ptCount val="1"/>
                <c:pt idx="0">
                  <c:v>PayPal</c:v>
                </c:pt>
              </c:strCache>
            </c:strRef>
          </c:tx>
          <c:invertIfNegative val="0"/>
          <c:cat>
            <c:strRef>
              <c:f>'Payment method by Region'!$A$7:$A$11</c:f>
              <c:strCache>
                <c:ptCount val="4"/>
                <c:pt idx="0">
                  <c:v>EUROPE</c:v>
                </c:pt>
                <c:pt idx="1">
                  <c:v>AMERICAS</c:v>
                </c:pt>
                <c:pt idx="2">
                  <c:v>Asia</c:v>
                </c:pt>
                <c:pt idx="3">
                  <c:v>OCEANIA</c:v>
                </c:pt>
              </c:strCache>
            </c:strRef>
          </c:cat>
          <c:val>
            <c:numRef>
              <c:f>'Payment method by Region'!$E$7:$E$11</c:f>
              <c:numCache>
                <c:formatCode>General</c:formatCode>
                <c:ptCount val="4"/>
                <c:pt idx="0">
                  <c:v>1490.7500000000009</c:v>
                </c:pt>
                <c:pt idx="1">
                  <c:v>999.15000000000066</c:v>
                </c:pt>
                <c:pt idx="2">
                  <c:v>275.7700000000001</c:v>
                </c:pt>
                <c:pt idx="3">
                  <c:v>439.64000000000016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138062848"/>
        <c:axId val="153702784"/>
      </c:barChart>
      <c:catAx>
        <c:axId val="138062848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153702784"/>
        <c:crosses val="autoZero"/>
        <c:auto val="1"/>
        <c:lblAlgn val="ctr"/>
        <c:lblOffset val="100"/>
        <c:noMultiLvlLbl val="0"/>
      </c:catAx>
      <c:valAx>
        <c:axId val="15370278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138062848"/>
        <c:crosses val="autoZero"/>
        <c:crossBetween val="between"/>
      </c:valAx>
      <c:spPr>
        <a:solidFill>
          <a:schemeClr val="tx1"/>
        </a:solidFill>
      </c:spPr>
    </c:plotArea>
    <c:legend>
      <c:legendPos val="b"/>
      <c:layout>
        <c:manualLayout>
          <c:xMode val="edge"/>
          <c:yMode val="edge"/>
          <c:x val="0.14241639149944968"/>
          <c:y val="0.80714361876640406"/>
          <c:w val="0.79007309212930665"/>
          <c:h val="0.12772561657640896"/>
        </c:manualLayout>
      </c:layout>
      <c:overlay val="0"/>
      <c:txPr>
        <a:bodyPr/>
        <a:lstStyle/>
        <a:p>
          <a:pPr>
            <a:defRPr>
              <a:solidFill>
                <a:srgbClr val="FFC0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tx1"/>
    </a:solidFill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[streaming_service_data Analysis_Yuvraj Bhalerao.xlsx]Subscription trends by country!Subcription trends by country</c:name>
    <c:fmtId val="10"/>
  </c:pivotSource>
  <c:chart>
    <c:title>
      <c:tx>
        <c:rich>
          <a:bodyPr/>
          <a:lstStyle/>
          <a:p>
            <a:pPr>
              <a:defRPr>
                <a:solidFill>
                  <a:srgbClr val="FFC000"/>
                </a:solidFill>
              </a:defRPr>
            </a:pPr>
            <a:r>
              <a:rPr lang="en-IN" sz="1200" b="0" i="0" u="none" strike="noStrike" baseline="0" dirty="0" smtClean="0">
                <a:solidFill>
                  <a:srgbClr val="C00000"/>
                </a:solidFill>
              </a:rPr>
              <a:t>Subscription trends by country </a:t>
            </a:r>
          </a:p>
        </c:rich>
      </c:tx>
      <c:layout>
        <c:manualLayout>
          <c:xMode val="edge"/>
          <c:yMode val="edge"/>
          <c:x val="0.20995213959604506"/>
          <c:y val="2.8356285251577594E-2"/>
        </c:manualLayout>
      </c:layout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chemeClr val="accent3">
                      <a:lumMod val="40000"/>
                      <a:lumOff val="60000"/>
                    </a:schemeClr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3"/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chemeClr val="accent3">
                      <a:lumMod val="40000"/>
                      <a:lumOff val="60000"/>
                    </a:schemeClr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4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5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6"/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chemeClr val="accent3">
                      <a:lumMod val="40000"/>
                      <a:lumOff val="60000"/>
                    </a:schemeClr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7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8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9"/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chemeClr val="accent3">
                      <a:lumMod val="40000"/>
                      <a:lumOff val="60000"/>
                    </a:schemeClr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1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2"/>
        <c:marker>
          <c:symbol val="none"/>
        </c:marker>
        <c:dLbl>
          <c:idx val="0"/>
          <c:spPr/>
          <c:txPr>
            <a:bodyPr/>
            <a:lstStyle/>
            <a:p>
              <a:pPr>
                <a:defRPr>
                  <a:solidFill>
                    <a:schemeClr val="accent3">
                      <a:lumMod val="40000"/>
                      <a:lumOff val="60000"/>
                    </a:schemeClr>
                  </a:solidFill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3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4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</c:dLbl>
      </c:pivotFmt>
    </c:pivotFmts>
    <c:plotArea>
      <c:layout>
        <c:manualLayout>
          <c:layoutTarget val="inner"/>
          <c:xMode val="edge"/>
          <c:yMode val="edge"/>
          <c:x val="0.19579160439198334"/>
          <c:y val="0.12992371698218574"/>
          <c:w val="0.63552818944965184"/>
          <c:h val="0.7563080359635896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'Subscription trends by country'!$B$3:$B$4</c:f>
              <c:strCache>
                <c:ptCount val="1"/>
                <c:pt idx="0">
                  <c:v>Dimond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accent3">
                        <a:lumMod val="40000"/>
                        <a:lumOff val="60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'Subscription trends by country'!$A$5:$A$12</c:f>
              <c:strCache>
                <c:ptCount val="7"/>
                <c:pt idx="0">
                  <c:v>USA</c:v>
                </c:pt>
                <c:pt idx="1">
                  <c:v>Australia</c:v>
                </c:pt>
                <c:pt idx="2">
                  <c:v>UK</c:v>
                </c:pt>
                <c:pt idx="3">
                  <c:v>Canada</c:v>
                </c:pt>
                <c:pt idx="4">
                  <c:v>France</c:v>
                </c:pt>
                <c:pt idx="5">
                  <c:v>Germany</c:v>
                </c:pt>
                <c:pt idx="6">
                  <c:v>India</c:v>
                </c:pt>
              </c:strCache>
            </c:strRef>
          </c:cat>
          <c:val>
            <c:numRef>
              <c:f>'Subscription trends by country'!$B$5:$B$12</c:f>
              <c:numCache>
                <c:formatCode>0.00</c:formatCode>
                <c:ptCount val="7"/>
                <c:pt idx="0">
                  <c:v>831.48000000000036</c:v>
                </c:pt>
                <c:pt idx="1">
                  <c:v>815.49000000000035</c:v>
                </c:pt>
                <c:pt idx="2">
                  <c:v>799.50000000000034</c:v>
                </c:pt>
                <c:pt idx="3">
                  <c:v>783.51000000000033</c:v>
                </c:pt>
                <c:pt idx="4">
                  <c:v>751.53000000000031</c:v>
                </c:pt>
                <c:pt idx="5">
                  <c:v>735.5400000000003</c:v>
                </c:pt>
                <c:pt idx="6">
                  <c:v>591.63000000000022</c:v>
                </c:pt>
              </c:numCache>
            </c:numRef>
          </c:val>
        </c:ser>
        <c:ser>
          <c:idx val="1"/>
          <c:order val="1"/>
          <c:tx>
            <c:strRef>
              <c:f>'Subscription trends by country'!$C$3:$C$4</c:f>
              <c:strCache>
                <c:ptCount val="1"/>
                <c:pt idx="0">
                  <c:v>Gold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'Subscription trends by country'!$A$5:$A$12</c:f>
              <c:strCache>
                <c:ptCount val="7"/>
                <c:pt idx="0">
                  <c:v>USA</c:v>
                </c:pt>
                <c:pt idx="1">
                  <c:v>Australia</c:v>
                </c:pt>
                <c:pt idx="2">
                  <c:v>UK</c:v>
                </c:pt>
                <c:pt idx="3">
                  <c:v>Canada</c:v>
                </c:pt>
                <c:pt idx="4">
                  <c:v>France</c:v>
                </c:pt>
                <c:pt idx="5">
                  <c:v>Germany</c:v>
                </c:pt>
                <c:pt idx="6">
                  <c:v>India</c:v>
                </c:pt>
              </c:strCache>
            </c:strRef>
          </c:cat>
          <c:val>
            <c:numRef>
              <c:f>'Subscription trends by country'!$C$5:$C$12</c:f>
              <c:numCache>
                <c:formatCode>0.00</c:formatCode>
                <c:ptCount val="7"/>
                <c:pt idx="0">
                  <c:v>635.47000000000037</c:v>
                </c:pt>
                <c:pt idx="1">
                  <c:v>599.50000000000034</c:v>
                </c:pt>
                <c:pt idx="2">
                  <c:v>623.48000000000036</c:v>
                </c:pt>
                <c:pt idx="3">
                  <c:v>527.56000000000029</c:v>
                </c:pt>
                <c:pt idx="4">
                  <c:v>599.50000000000034</c:v>
                </c:pt>
                <c:pt idx="5">
                  <c:v>611.49000000000035</c:v>
                </c:pt>
                <c:pt idx="6">
                  <c:v>539.5500000000003</c:v>
                </c:pt>
              </c:numCache>
            </c:numRef>
          </c:val>
        </c:ser>
        <c:ser>
          <c:idx val="2"/>
          <c:order val="2"/>
          <c:tx>
            <c:strRef>
              <c:f>'Subscription trends by country'!$D$3:$D$4</c:f>
              <c:strCache>
                <c:ptCount val="1"/>
                <c:pt idx="0">
                  <c:v>Silver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'Subscription trends by country'!$A$5:$A$12</c:f>
              <c:strCache>
                <c:ptCount val="7"/>
                <c:pt idx="0">
                  <c:v>USA</c:v>
                </c:pt>
                <c:pt idx="1">
                  <c:v>Australia</c:v>
                </c:pt>
                <c:pt idx="2">
                  <c:v>UK</c:v>
                </c:pt>
                <c:pt idx="3">
                  <c:v>Canada</c:v>
                </c:pt>
                <c:pt idx="4">
                  <c:v>France</c:v>
                </c:pt>
                <c:pt idx="5">
                  <c:v>Germany</c:v>
                </c:pt>
                <c:pt idx="6">
                  <c:v>India</c:v>
                </c:pt>
              </c:strCache>
            </c:strRef>
          </c:cat>
          <c:val>
            <c:numRef>
              <c:f>'Subscription trends by country'!$D$5:$D$12</c:f>
              <c:numCache>
                <c:formatCode>General</c:formatCode>
                <c:ptCount val="7"/>
                <c:pt idx="0">
                  <c:v>423.47000000000031</c:v>
                </c:pt>
                <c:pt idx="1">
                  <c:v>311.61000000000018</c:v>
                </c:pt>
                <c:pt idx="2">
                  <c:v>383.52000000000027</c:v>
                </c:pt>
                <c:pt idx="3">
                  <c:v>367.54000000000025</c:v>
                </c:pt>
                <c:pt idx="4">
                  <c:v>431.46000000000032</c:v>
                </c:pt>
                <c:pt idx="5">
                  <c:v>391.51000000000028</c:v>
                </c:pt>
                <c:pt idx="6">
                  <c:v>271.66000000000014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9386240"/>
        <c:axId val="159590656"/>
      </c:barChart>
      <c:catAx>
        <c:axId val="159386240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159590656"/>
        <c:crosses val="autoZero"/>
        <c:auto val="1"/>
        <c:lblAlgn val="ctr"/>
        <c:lblOffset val="100"/>
        <c:noMultiLvlLbl val="0"/>
      </c:catAx>
      <c:valAx>
        <c:axId val="159590656"/>
        <c:scaling>
          <c:orientation val="minMax"/>
        </c:scaling>
        <c:delete val="0"/>
        <c:axPos val="b"/>
        <c:numFmt formatCode="0.00" sourceLinked="1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rgbClr val="FFC000"/>
                </a:solidFill>
              </a:defRPr>
            </a:pPr>
            <a:endParaRPr lang="en-US"/>
          </a:p>
        </c:txPr>
        <c:crossAx val="159386240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9467192984520785"/>
          <c:y val="0.41319484000670131"/>
          <c:w val="0.1817292427873374"/>
          <c:h val="0.3702056179147819"/>
        </c:manualLayout>
      </c:layout>
      <c:overlay val="0"/>
      <c:txPr>
        <a:bodyPr/>
        <a:lstStyle/>
        <a:p>
          <a:pPr>
            <a:defRPr>
              <a:solidFill>
                <a:srgbClr val="FFC0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tx1"/>
    </a:solidFill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</c:extLs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14198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73a04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73a04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73a04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73a04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6f73a04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6f73a04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6f73a04f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6f73a04f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131575"/>
            <a:ext cx="8222100" cy="16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Streaming Service Dashboard Data Analysis </a:t>
            </a:r>
            <a:endParaRPr sz="29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5672625" y="3494524"/>
            <a:ext cx="2940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By Yuvraj Bhalerao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1A1C1E"/>
                </a:solidFill>
                <a:latin typeface="Roboto" charset="0"/>
                <a:ea typeface="Roboto" charset="0"/>
                <a:cs typeface="Arial"/>
                <a:sym typeface="Arial"/>
              </a:rPr>
              <a:t> Executive </a:t>
            </a:r>
            <a:r>
              <a:rPr lang="en" sz="1400" b="1" dirty="0" smtClean="0">
                <a:solidFill>
                  <a:srgbClr val="1A1C1E"/>
                </a:solidFill>
                <a:latin typeface="Roboto" charset="0"/>
                <a:ea typeface="Roboto" charset="0"/>
                <a:cs typeface="Arial"/>
                <a:sym typeface="Arial"/>
              </a:rPr>
              <a:t>Overview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 dirty="0">
              <a:solidFill>
                <a:srgbClr val="1A1C1E"/>
              </a:solidFill>
              <a:latin typeface="Roboto" charset="0"/>
              <a:ea typeface="Roboto" charset="0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Roboto" charset="0"/>
                <a:ea typeface="Roboto" charset="0"/>
                <a:cs typeface="Arial"/>
                <a:sym typeface="Arial"/>
              </a:rPr>
              <a:t>Dashboard for the year 2022,2023,2024 for all quarters indicates a positive growth trajectory.</a:t>
            </a:r>
            <a:endParaRPr sz="1400" dirty="0">
              <a:solidFill>
                <a:srgbClr val="000000"/>
              </a:solidFill>
              <a:latin typeface="Roboto" charset="0"/>
              <a:ea typeface="Roboto" charset="0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Roboto" charset="0"/>
                <a:ea typeface="Roboto" charset="0"/>
                <a:cs typeface="Arial"/>
                <a:sym typeface="Arial"/>
              </a:rPr>
              <a:t>Business has been grown by 51.54% in year 2023 and 46.9% in 2024. Revenue remains strong due to highest user growth in </a:t>
            </a:r>
            <a:r>
              <a:rPr lang="en" sz="1400" dirty="0" smtClean="0">
                <a:solidFill>
                  <a:srgbClr val="000000"/>
                </a:solidFill>
                <a:latin typeface="Roboto" charset="0"/>
                <a:ea typeface="Roboto" charset="0"/>
                <a:cs typeface="Arial"/>
                <a:sym typeface="Arial"/>
              </a:rPr>
              <a:t>Tier </a:t>
            </a:r>
            <a:r>
              <a:rPr lang="en" sz="1400" dirty="0">
                <a:solidFill>
                  <a:srgbClr val="000000"/>
                </a:solidFill>
                <a:latin typeface="Roboto" charset="0"/>
                <a:ea typeface="Roboto" charset="0"/>
                <a:cs typeface="Arial"/>
                <a:sym typeface="Arial"/>
              </a:rPr>
              <a:t>-</a:t>
            </a:r>
            <a:r>
              <a:rPr lang="en" sz="1400" dirty="0" smtClean="0">
                <a:solidFill>
                  <a:srgbClr val="000000"/>
                </a:solidFill>
                <a:latin typeface="Roboto" charset="0"/>
                <a:ea typeface="Roboto" charset="0"/>
                <a:cs typeface="Arial"/>
                <a:sym typeface="Arial"/>
              </a:rPr>
              <a:t>2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A1C1E"/>
                </a:solidFill>
                <a:latin typeface="Arial"/>
                <a:ea typeface="Arial"/>
                <a:cs typeface="Arial"/>
                <a:sym typeface="Arial"/>
              </a:rPr>
              <a:t>Key Performance Indicators (KPIs) </a:t>
            </a:r>
            <a:endParaRPr sz="1800"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4305373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Key Performance Indicators (KPIs) :</a:t>
            </a:r>
            <a:endParaRPr sz="1050" b="1" dirty="0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050" b="1" dirty="0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100"/>
              <a:buFont typeface="Arial"/>
              <a:buChar char="●"/>
            </a:pPr>
            <a:r>
              <a:rPr lang="en" sz="1050" b="1" dirty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Total Subscribers:</a:t>
            </a:r>
            <a:r>
              <a:rPr lang="en" sz="1050" dirty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1000 </a:t>
            </a:r>
            <a:endParaRPr lang="en" sz="1050" dirty="0" smtClean="0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100"/>
              <a:buNone/>
            </a:pPr>
            <a:endParaRPr lang="en" sz="1050" dirty="0" smtClean="0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100"/>
              <a:buFont typeface="Arial"/>
              <a:buChar char="●"/>
            </a:pPr>
            <a:r>
              <a:rPr lang="en" sz="1050" b="1" dirty="0" smtClean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Year wise </a:t>
            </a:r>
            <a:r>
              <a:rPr lang="en" sz="1050" b="1" dirty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Active Users (MAU</a:t>
            </a:r>
            <a:r>
              <a:rPr lang="en" sz="1050" b="1" dirty="0" smtClean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):</a:t>
            </a:r>
            <a:endParaRPr lang="en" sz="1050" dirty="0" smtClean="0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100"/>
              <a:buNone/>
            </a:pPr>
            <a:r>
              <a:rPr lang="en-US" sz="1050" dirty="0" smtClean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2022- 18</a:t>
            </a:r>
          </a:p>
          <a:p>
            <a:pPr marL="15875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100"/>
              <a:buNone/>
            </a:pPr>
            <a:r>
              <a:rPr lang="en-US" sz="1050" dirty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050" dirty="0" smtClean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2023- 511</a:t>
            </a:r>
          </a:p>
          <a:p>
            <a:pPr marL="15875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100"/>
              <a:buNone/>
            </a:pPr>
            <a:r>
              <a:rPr lang="en-US" sz="1050" dirty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050" dirty="0" smtClean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2024- 471</a:t>
            </a:r>
            <a:endParaRPr sz="1050" dirty="0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100"/>
              <a:buFont typeface="Arial"/>
              <a:buChar char="●"/>
            </a:pPr>
            <a:r>
              <a:rPr lang="en" sz="1050" b="1" dirty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Average Revenue Per User (ARPU):</a:t>
            </a:r>
            <a:r>
              <a:rPr lang="en" sz="1050" dirty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Rs.12.03 (Stable</a:t>
            </a:r>
            <a:r>
              <a:rPr lang="en" sz="1050" dirty="0" smtClean="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lvl="0" indent="-298450">
              <a:lnSpc>
                <a:spcPct val="136363"/>
              </a:lnSpc>
              <a:buClr>
                <a:srgbClr val="1A1C1E"/>
              </a:buClr>
              <a:buSzPts val="1100"/>
              <a:buFont typeface="Arial"/>
              <a:buChar char="●"/>
            </a:pPr>
            <a:r>
              <a:rPr lang="en" sz="10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has been grown by 51.54% in year 2023 and </a:t>
            </a:r>
            <a:r>
              <a:rPr lang="en" sz="105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46.59</a:t>
            </a:r>
            <a:r>
              <a:rPr lang="en" sz="10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 in 2024.</a:t>
            </a:r>
            <a:endParaRPr sz="1050" dirty="0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1600"/>
              </a:spcAft>
              <a:buNone/>
            </a:pPr>
            <a:endParaRPr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2883310"/>
              </p:ext>
            </p:extLst>
          </p:nvPr>
        </p:nvGraphicFramePr>
        <p:xfrm>
          <a:off x="5243803" y="1734327"/>
          <a:ext cx="3555741" cy="153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382643"/>
              </p:ext>
            </p:extLst>
          </p:nvPr>
        </p:nvGraphicFramePr>
        <p:xfrm>
          <a:off x="5253135" y="3307313"/>
          <a:ext cx="3536302" cy="1759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Subscription Revenue Analysis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553" y="1937736"/>
            <a:ext cx="3999900" cy="3007487"/>
          </a:xfrm>
        </p:spPr>
        <p:txBody>
          <a:bodyPr/>
          <a:lstStyle/>
          <a:p>
            <a:pPr marL="139700" indent="0">
              <a:buNone/>
            </a:pPr>
            <a:r>
              <a:rPr lang="en-US" dirty="0" smtClean="0"/>
              <a:t>* Yearly revenue vs. subscription plan</a:t>
            </a:r>
          </a:p>
          <a:p>
            <a:pPr marL="139700" indent="0">
              <a:buNone/>
            </a:pPr>
            <a:endParaRPr lang="en-US" dirty="0" smtClean="0"/>
          </a:p>
          <a:p>
            <a:pPr marL="139700" indent="0">
              <a:buNone/>
            </a:pPr>
            <a:r>
              <a:rPr lang="en-US" dirty="0" smtClean="0"/>
              <a:t>Year- 2024 Revenue (46.59%) has been slightly decrease by 4.95% after compared with year 2023 which is 51.54% 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 smtClean="0"/>
              <a:t>Dimond</a:t>
            </a:r>
            <a:r>
              <a:rPr lang="en-US" dirty="0" smtClean="0"/>
              <a:t> subscription plan has claimed highest (Rs.5309)Revenue on business platform.</a:t>
            </a:r>
          </a:p>
          <a:p>
            <a:pPr marL="139700" indent="0">
              <a:buNone/>
            </a:pPr>
            <a:endParaRPr lang="en-US" dirty="0" smtClean="0"/>
          </a:p>
          <a:p>
            <a:pPr marL="139700" indent="0">
              <a:buNone/>
            </a:pPr>
            <a:r>
              <a:rPr lang="en-US" dirty="0" smtClean="0"/>
              <a:t>User </a:t>
            </a:r>
            <a:r>
              <a:rPr lang="en-US" dirty="0" err="1" smtClean="0"/>
              <a:t>vs</a:t>
            </a:r>
            <a:r>
              <a:rPr lang="en-US" dirty="0" smtClean="0"/>
              <a:t> price tier distribution:</a:t>
            </a:r>
          </a:p>
          <a:p>
            <a:pPr marL="139700" indent="0">
              <a:buNone/>
            </a:pPr>
            <a:r>
              <a:rPr lang="en-US" dirty="0" smtClean="0"/>
              <a:t>Tier 2 showing highest number of users.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694250" y="1763486"/>
            <a:ext cx="3749954" cy="3228391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3290204"/>
              </p:ext>
            </p:extLst>
          </p:nvPr>
        </p:nvGraphicFramePr>
        <p:xfrm>
          <a:off x="4781356" y="1813637"/>
          <a:ext cx="3364269" cy="1452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315090"/>
              </p:ext>
            </p:extLst>
          </p:nvPr>
        </p:nvGraphicFramePr>
        <p:xfrm>
          <a:off x="4805265" y="3349690"/>
          <a:ext cx="3321698" cy="1613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9642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engagement metrics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Europe Region showing highest watch hours and highest recommended contents</a:t>
            </a:r>
          </a:p>
          <a:p>
            <a:pPr marL="139700" indent="0">
              <a:buNone/>
            </a:pPr>
            <a:endParaRPr lang="en-US" dirty="0" smtClean="0"/>
          </a:p>
          <a:p>
            <a:r>
              <a:rPr lang="en-US" dirty="0" smtClean="0"/>
              <a:t>On the other hand Asia region observed lowest watch hours with lowest recommended contents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endParaRPr lang="en-IN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1218028"/>
              </p:ext>
            </p:extLst>
          </p:nvPr>
        </p:nvGraphicFramePr>
        <p:xfrm>
          <a:off x="4697186" y="1935130"/>
          <a:ext cx="4017606" cy="245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8819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engagement metrics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3999900" cy="3091464"/>
          </a:xfrm>
        </p:spPr>
        <p:txBody>
          <a:bodyPr/>
          <a:lstStyle/>
          <a:p>
            <a:r>
              <a:rPr lang="en-US" dirty="0" smtClean="0"/>
              <a:t>Smart phone usage is high among all other devices across all regions, genre, age group</a:t>
            </a:r>
          </a:p>
          <a:p>
            <a:endParaRPr lang="en-US" dirty="0"/>
          </a:p>
          <a:p>
            <a:r>
              <a:rPr lang="en-US" dirty="0" smtClean="0"/>
              <a:t>Which is 22% stake from other devices</a:t>
            </a:r>
          </a:p>
          <a:p>
            <a:endParaRPr lang="en-US" dirty="0"/>
          </a:p>
          <a:p>
            <a:r>
              <a:rPr lang="en-US" dirty="0" smtClean="0"/>
              <a:t>Laptop usage has lowest 17% stake compare to other devices</a:t>
            </a:r>
          </a:p>
          <a:p>
            <a:r>
              <a:rPr lang="en-US" dirty="0" smtClean="0"/>
              <a:t>Afternoon time is most </a:t>
            </a:r>
            <a:r>
              <a:rPr lang="en-US" dirty="0" err="1" smtClean="0"/>
              <a:t>preffered</a:t>
            </a:r>
            <a:r>
              <a:rPr lang="en-US" dirty="0" smtClean="0"/>
              <a:t> time to watch using smart phone device across all regions.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5063569"/>
              </p:ext>
            </p:extLst>
          </p:nvPr>
        </p:nvGraphicFramePr>
        <p:xfrm>
          <a:off x="4721290" y="1987420"/>
          <a:ext cx="3956179" cy="258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8191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Demographic &amp; behavioral insights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620" y="1763486"/>
            <a:ext cx="4441372" cy="3312367"/>
          </a:xfrm>
        </p:spPr>
        <p:txBody>
          <a:bodyPr/>
          <a:lstStyle/>
          <a:p>
            <a:r>
              <a:rPr lang="en-US" dirty="0" smtClean="0"/>
              <a:t>Preferred Genres </a:t>
            </a:r>
            <a:r>
              <a:rPr lang="en-US" dirty="0" err="1" smtClean="0"/>
              <a:t>vs</a:t>
            </a:r>
            <a:r>
              <a:rPr lang="en-US" dirty="0" smtClean="0"/>
              <a:t> Age group :</a:t>
            </a:r>
          </a:p>
          <a:p>
            <a:pPr marL="139700" indent="0">
              <a:buNone/>
            </a:pPr>
            <a:r>
              <a:rPr lang="en-US" dirty="0" smtClean="0"/>
              <a:t>Different age group have different interest in terms of watching content, overall ‘Horror ‘ genre content has been highly watched on platform.</a:t>
            </a:r>
          </a:p>
          <a:p>
            <a:pPr marL="139700" indent="0">
              <a:buNone/>
            </a:pPr>
            <a:endParaRPr lang="en-US" dirty="0" smtClean="0"/>
          </a:p>
          <a:p>
            <a:pPr marL="139700" indent="0">
              <a:buNone/>
            </a:pPr>
            <a:r>
              <a:rPr lang="en-US" dirty="0" smtClean="0"/>
              <a:t>18-24 : Age group proffered ‘Action’ genre content.</a:t>
            </a:r>
          </a:p>
          <a:p>
            <a:pPr marL="139700" indent="0">
              <a:buNone/>
            </a:pPr>
            <a:r>
              <a:rPr lang="en-US" dirty="0" smtClean="0"/>
              <a:t>25-34 </a:t>
            </a:r>
            <a:r>
              <a:rPr lang="en-US" dirty="0"/>
              <a:t>: Age group proffered </a:t>
            </a:r>
            <a:r>
              <a:rPr lang="en-US" dirty="0" smtClean="0"/>
              <a:t>‘Horror’ </a:t>
            </a:r>
            <a:r>
              <a:rPr lang="en-US" dirty="0"/>
              <a:t>genre content.</a:t>
            </a:r>
          </a:p>
          <a:p>
            <a:pPr marL="139700" indent="0">
              <a:buNone/>
            </a:pPr>
            <a:r>
              <a:rPr lang="en-US" dirty="0" smtClean="0"/>
              <a:t>35-44 </a:t>
            </a:r>
            <a:r>
              <a:rPr lang="en-US" dirty="0"/>
              <a:t>: Age group proffered </a:t>
            </a:r>
            <a:r>
              <a:rPr lang="en-US" dirty="0" smtClean="0"/>
              <a:t>‘Sci-fi’ </a:t>
            </a:r>
            <a:r>
              <a:rPr lang="en-US" dirty="0"/>
              <a:t>genre content</a:t>
            </a:r>
            <a:r>
              <a:rPr lang="en-US" dirty="0" smtClean="0"/>
              <a:t>.</a:t>
            </a:r>
          </a:p>
          <a:p>
            <a:pPr marL="139700" indent="0">
              <a:buNone/>
            </a:pPr>
            <a:r>
              <a:rPr lang="en-US" dirty="0" smtClean="0"/>
              <a:t>45-54 </a:t>
            </a:r>
            <a:r>
              <a:rPr lang="en-US" dirty="0"/>
              <a:t>: Age group proffered ‘Action’ genre content.</a:t>
            </a:r>
          </a:p>
          <a:p>
            <a:pPr marL="139700" indent="0">
              <a:buNone/>
            </a:pPr>
            <a:r>
              <a:rPr lang="en-US" dirty="0"/>
              <a:t>18-24 : Age group proffered ‘Action’ genre content.</a:t>
            </a:r>
          </a:p>
          <a:p>
            <a:pPr marL="139700" indent="0">
              <a:buNone/>
            </a:pPr>
            <a:r>
              <a:rPr lang="en-US" dirty="0" smtClean="0"/>
              <a:t>55+: Adults showing interest in watching ‘Comedy’ content</a:t>
            </a:r>
            <a:endParaRPr lang="en-US" dirty="0"/>
          </a:p>
          <a:p>
            <a:pPr marL="139700" indent="0">
              <a:buNone/>
            </a:pPr>
            <a:endParaRPr lang="en-US" dirty="0" smtClean="0"/>
          </a:p>
          <a:p>
            <a:pPr marL="139700" indent="0">
              <a:buNone/>
            </a:pP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3168762"/>
              </p:ext>
            </p:extLst>
          </p:nvPr>
        </p:nvGraphicFramePr>
        <p:xfrm>
          <a:off x="4730620" y="1987420"/>
          <a:ext cx="3965511" cy="2500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86894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Retention &amp; Loyalty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Active subscriber are high  in the 2024 compared to last year.</a:t>
            </a:r>
          </a:p>
          <a:p>
            <a:pPr marL="139700" indent="0">
              <a:buNone/>
            </a:pPr>
            <a:endParaRPr lang="en-US" dirty="0" smtClean="0"/>
          </a:p>
          <a:p>
            <a:r>
              <a:rPr lang="en-US" dirty="0" smtClean="0"/>
              <a:t>Region ‘Americas’ USA country having customers with high loyalty points (&gt;15000 loyalty points)</a:t>
            </a:r>
          </a:p>
          <a:p>
            <a:endParaRPr lang="en-US" dirty="0" smtClean="0"/>
          </a:p>
          <a:p>
            <a:r>
              <a:rPr lang="en-US" dirty="0" smtClean="0"/>
              <a:t>In the month of November observed high login frequency and high data content download 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6925213"/>
              </p:ext>
            </p:extLst>
          </p:nvPr>
        </p:nvGraphicFramePr>
        <p:xfrm>
          <a:off x="4688049" y="3209731"/>
          <a:ext cx="4017412" cy="1436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8627438"/>
              </p:ext>
            </p:extLst>
          </p:nvPr>
        </p:nvGraphicFramePr>
        <p:xfrm>
          <a:off x="4721290" y="1688840"/>
          <a:ext cx="3993502" cy="1567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52511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Payment preferences / Regional trends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Crypto currency trend noted in ‘</a:t>
            </a:r>
            <a:r>
              <a:rPr lang="en-US" dirty="0" err="1" smtClean="0"/>
              <a:t>Ociania</a:t>
            </a:r>
            <a:r>
              <a:rPr lang="en-US" dirty="0" smtClean="0"/>
              <a:t>’ Region</a:t>
            </a:r>
          </a:p>
          <a:p>
            <a:r>
              <a:rPr lang="en-US" dirty="0" smtClean="0"/>
              <a:t>Debit card payment mode usage high in ‘Asia’ Region</a:t>
            </a:r>
          </a:p>
          <a:p>
            <a:r>
              <a:rPr lang="en-US" dirty="0" smtClean="0"/>
              <a:t>Europe and Americas region have ‘</a:t>
            </a:r>
            <a:r>
              <a:rPr lang="en-US" dirty="0" err="1" smtClean="0"/>
              <a:t>Paypal</a:t>
            </a:r>
            <a:r>
              <a:rPr lang="en-US" dirty="0" smtClean="0"/>
              <a:t>’ mode in top use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1292690"/>
              </p:ext>
            </p:extLst>
          </p:nvPr>
        </p:nvGraphicFramePr>
        <p:xfrm>
          <a:off x="4749282" y="1744824"/>
          <a:ext cx="3956179" cy="2864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66058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Subcription</a:t>
            </a:r>
            <a:r>
              <a:rPr lang="en-US" dirty="0" smtClean="0"/>
              <a:t> trend by country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Dimond</a:t>
            </a:r>
            <a:r>
              <a:rPr lang="en-US" dirty="0" smtClean="0"/>
              <a:t> subscription plan using largely in all countries across all region</a:t>
            </a:r>
          </a:p>
          <a:p>
            <a:r>
              <a:rPr lang="en-US" dirty="0" smtClean="0"/>
              <a:t>	</a:t>
            </a:r>
            <a:r>
              <a:rPr lang="en" dirty="0">
                <a:sym typeface="Arial"/>
              </a:rPr>
              <a:t>Diamond plan subscribers book major growth compared to other plan. Silver plan register lowest growth in last 3 years</a:t>
            </a:r>
            <a:endParaRPr lang="en-US" dirty="0"/>
          </a:p>
          <a:p>
            <a:r>
              <a:rPr lang="en-US" dirty="0" smtClean="0"/>
              <a:t>USA in top among all other countries </a:t>
            </a:r>
          </a:p>
          <a:p>
            <a:endParaRPr lang="en-US" dirty="0"/>
          </a:p>
          <a:p>
            <a:r>
              <a:rPr lang="en-US" dirty="0" smtClean="0"/>
              <a:t>India very low subscriber who have Diamond subscription.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788962"/>
              </p:ext>
            </p:extLst>
          </p:nvPr>
        </p:nvGraphicFramePr>
        <p:xfrm>
          <a:off x="4555768" y="1937754"/>
          <a:ext cx="4131031" cy="2690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89399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 idx="4294967295"/>
          </p:nvPr>
        </p:nvSpPr>
        <p:spPr>
          <a:xfrm>
            <a:off x="773700" y="1116875"/>
            <a:ext cx="7596600" cy="13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Diamond plan subscribers book major growth compared to other plan. Silver plan register lowest growth in last 3 years</a:t>
            </a:r>
            <a:endParaRPr sz="1800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cxnSp>
        <p:nvCxnSpPr>
          <p:cNvPr id="109" name="Google Shape;109;p19"/>
          <p:cNvCxnSpPr/>
          <p:nvPr/>
        </p:nvCxnSpPr>
        <p:spPr>
          <a:xfrm>
            <a:off x="4295550" y="2693400"/>
            <a:ext cx="552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7930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sz="1050" b="1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050" b="1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100"/>
              <a:buFont typeface="Arial"/>
              <a:buAutoNum type="arabicPeriod"/>
            </a:pPr>
            <a:r>
              <a:rPr lang="en" sz="1050" b="1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Combat Churn:</a:t>
            </a:r>
            <a:r>
              <a:rPr lang="en" sz="105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Implement a "Pause Subscription" feature instead of full cancellation for price-sensitive users.</a:t>
            </a:r>
            <a:endParaRPr sz="1050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100"/>
              <a:buFont typeface="Arial"/>
              <a:buAutoNum type="arabicPeriod"/>
            </a:pPr>
            <a:r>
              <a:rPr lang="en" sz="1050" b="1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Content Investment:</a:t>
            </a:r>
            <a:r>
              <a:rPr lang="en" sz="105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Reallocate budget from licensing " Series" to producing 2 more Horror originals. As overall movies watch time and trend line has been dropped in 2024 as compared to previous year</a:t>
            </a:r>
            <a:endParaRPr sz="1050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100"/>
              <a:buFont typeface="Arial"/>
              <a:buAutoNum type="arabicPeriod"/>
            </a:pPr>
            <a:r>
              <a:rPr lang="en" sz="1050" b="1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Mobile Experience:</a:t>
            </a:r>
            <a:r>
              <a:rPr lang="en" sz="1050">
                <a:solidFill>
                  <a:srgbClr val="1A1C1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Investigate app buffering reports in the Asia region to sustain growth momentum.</a:t>
            </a:r>
            <a:endParaRPr sz="1050">
              <a:solidFill>
                <a:srgbClr val="1A1C1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4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Thanks!</a:t>
            </a:r>
            <a:endParaRPr sz="3000"/>
          </a:p>
        </p:txBody>
      </p:sp>
      <p:pic>
        <p:nvPicPr>
          <p:cNvPr id="121" name="Google Shape;121;p21" descr="Black and white upward shot of Golden Gate Bridge"/>
          <p:cNvPicPr preferRelativeResize="0"/>
          <p:nvPr/>
        </p:nvPicPr>
        <p:blipFill rotWithShape="1">
          <a:blip r:embed="rId3">
            <a:alphaModFix/>
          </a:blip>
          <a:srcRect l="19071" t="9" r="4853"/>
          <a:stretch/>
        </p:blipFill>
        <p:spPr>
          <a:xfrm>
            <a:off x="3274676" y="0"/>
            <a:ext cx="5869325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565</Words>
  <Application>Microsoft Office PowerPoint</Application>
  <PresentationFormat>On-screen Show (16:9)</PresentationFormat>
  <Paragraphs>90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Roboto</vt:lpstr>
      <vt:lpstr>Material</vt:lpstr>
      <vt:lpstr>Streaming Service Dashboard Data Analysis  </vt:lpstr>
      <vt:lpstr>Intro</vt:lpstr>
      <vt:lpstr>Key Performance Indicators (KPIs) </vt:lpstr>
      <vt:lpstr>Subscription Revenue Analysis</vt:lpstr>
      <vt:lpstr>User engagement metrics</vt:lpstr>
      <vt:lpstr>User engagement metrics</vt:lpstr>
      <vt:lpstr>Demographic &amp; behavioral insights</vt:lpstr>
      <vt:lpstr>Retention &amp; Loyalty</vt:lpstr>
      <vt:lpstr>Payment preferences / Regional trends</vt:lpstr>
      <vt:lpstr>Subcription trend by country</vt:lpstr>
      <vt:lpstr>Diamond plan subscribers book major growth compared to other plan. Silver plan register lowest growth in last 3 years </vt:lpstr>
      <vt:lpstr>Strategic Recommendations   Combat Churn: Implement a "Pause Subscription" feature instead of full cancellation for price-sensitive users. Content Investment: Reallocate budget from licensing " Series" to producing 2 more Horror originals. As overall movies watch time and trend line has been dropped in 2024 as compared to previous year Mobile Experience: Investigate app buffering reports in the Asia region to sustain growth momentum. 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Streaming Service Dashboard Data Analysis  </dc:title>
  <cp:lastModifiedBy>Yuvraaj</cp:lastModifiedBy>
  <cp:revision>24</cp:revision>
  <dcterms:modified xsi:type="dcterms:W3CDTF">2025-12-01T18:15:58Z</dcterms:modified>
</cp:coreProperties>
</file>